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6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 built in —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 bolted on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94360" y="3794760"/>
            <a:ext cx="173736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0233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ION's 20 secure-by-design principles shape every line of code and every release.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502920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22D3E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12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29968" y="5029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&amp; Assurance Brief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 is a property of the process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 means security is designed into the product and its lifecycle from the start — a continuous responsibility across plan, build and operate, not a test bolted on at the end.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3832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holds itself to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numbered principles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each with a status re-audited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release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published in SECURITY_ASSESSMENT.md.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5041087" cy="4297680"/>
          </a:xfrm>
          <a:prstGeom prst="roundRect">
            <a:avLst>
              <a:gd name="adj" fmla="val 1915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49440" y="2057400"/>
            <a:ext cx="43095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Synthesised from established frameworks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49440" y="2560320"/>
            <a:ext cx="457200" cy="4572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2884" y="268376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43800" y="2560320"/>
            <a:ext cx="3760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NCSC  </a:t>
            </a:r>
            <a:pPr indent="0" marL="0"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Design + Secure Development &amp; Deployment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3236976"/>
            <a:ext cx="457200" cy="4572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2884" y="3360420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3236976"/>
            <a:ext cx="3760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CISA  </a:t>
            </a:r>
            <a:pPr indent="0" marL="0"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 pledge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949440" y="3913632"/>
            <a:ext cx="457200" cy="4572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884" y="403707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3800" y="3913632"/>
            <a:ext cx="3760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NIST SSDF  </a:t>
            </a:r>
            <a:pPr indent="0" marL="0"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Software Development Framework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949440" y="4590288"/>
            <a:ext cx="457200" cy="4572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884" y="4713732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43800" y="4590288"/>
            <a:ext cx="3760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 </a:t>
            </a:r>
            <a:pPr indent="0" marL="0"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+ ASVS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949440" y="5266944"/>
            <a:ext cx="457200" cy="45720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884" y="5390388"/>
            <a:ext cx="210312" cy="21031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543800" y="5266944"/>
            <a:ext cx="3760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Saltzer &amp; Schroeder  </a:t>
            </a:r>
            <a:pPr indent="0" marL="0">
              <a:buNone/>
            </a:pPr>
            <a:r>
              <a:rPr lang="en-US" sz="11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classic 8 design principles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Twenty principles across four stages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58720" cy="4434840"/>
          </a:xfrm>
          <a:prstGeom prst="roundRect">
            <a:avLst>
              <a:gd name="adj" fmla="val 3216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502920" cy="50292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748" y="208346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5608" y="1929384"/>
            <a:ext cx="164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Govern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35608" y="2221992"/>
            <a:ext cx="164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P1–P3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59536" y="2651760"/>
            <a:ext cx="2101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 Security is everyone's concern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 Senior accountability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P3 Radical transparency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99968" y="1691640"/>
            <a:ext cx="2558720" cy="4434840"/>
          </a:xfrm>
          <a:prstGeom prst="roundRect">
            <a:avLst>
              <a:gd name="adj" fmla="val 3216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6000" y="1947672"/>
            <a:ext cx="502920" cy="50292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88" y="2083460"/>
            <a:ext cx="231343" cy="231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268648" y="1929384"/>
            <a:ext cx="164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268648" y="2221992"/>
            <a:ext cx="164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P4–P13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92576" y="2651760"/>
            <a:ext cx="2101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P4 Establish context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P5 Defence in depth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P6 Least privilege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P7 Secure defaults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P8 Complete mediation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 Economy of mechanism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P10 Open design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P11 Don't trust input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P12 Detect compromise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P13 Reduce impact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33008" y="1691640"/>
            <a:ext cx="2558720" cy="4434840"/>
          </a:xfrm>
          <a:prstGeom prst="roundRect">
            <a:avLst>
              <a:gd name="adj" fmla="val 3216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947672"/>
            <a:ext cx="502920" cy="50292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828" y="2083460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101688" y="1929384"/>
            <a:ext cx="164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&amp; Verify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7101688" y="2221992"/>
            <a:ext cx="164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P14–P18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525616" y="2651760"/>
            <a:ext cx="2101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P14 Clean, maintainable code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P15 Secure the repository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P16 Secure the pipeline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P17 Eliminate vuln classes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P18 Continually test security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9066047" y="1691640"/>
            <a:ext cx="2558720" cy="4434840"/>
          </a:xfrm>
          <a:prstGeom prst="roundRect">
            <a:avLst>
              <a:gd name="adj" fmla="val 3216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322079" y="1947672"/>
            <a:ext cx="502920" cy="50292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7868" y="2083460"/>
            <a:ext cx="231343" cy="2313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934727" y="1929384"/>
            <a:ext cx="164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934727" y="2221992"/>
            <a:ext cx="164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P19–P20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9358655" y="2651760"/>
            <a:ext cx="21015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P19 Plan for security flaws</a:t>
            </a:r>
            <a:endParaRPr lang="en-US" sz="1050" dirty="0"/>
          </a:p>
          <a:p>
            <a:pPr marL="127000" indent="-1270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P20 Continuous risk mgmt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honest, published posture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04088" y="196596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19 / 20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542032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principles Met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2828" y="178308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59988" y="196596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14268" y="2542032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Mostly Met (P1)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8728" y="178308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15888" y="196596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70168" y="2542032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/ Gap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34627" y="1783080"/>
            <a:ext cx="249014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71787" y="1965960"/>
            <a:ext cx="22158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B4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release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226067" y="2542032"/>
            <a:ext cx="23072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re-audited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337560"/>
            <a:ext cx="534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86968" y="356616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one gap is structural, and we say so.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6968" y="4069080"/>
            <a:ext cx="470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 ("security is everyone's concern") is Mostly Met: ION is a single-maintainer project, so it cannot reach "Met" without a second human reviewer. Six artifacts — CODEOWNERS, CONTRIBUTING, a security-review agent, and pre-commit gates — bring it as close as the model structurally allows.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337560"/>
            <a:ext cx="534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98768" y="3566160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critical, high, medium or low findings outstanding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98768" y="4069080"/>
            <a:ext cx="470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severity-trend table in SECURITY_ASSESSMENT.md tracks net-new surface for every version, so the claim is auditable, not asserted.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phases, every material change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286000"/>
            <a:ext cx="1992112" cy="237744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61816" y="208483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1361816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78936" y="2670048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6322" y="2877434"/>
            <a:ext cx="353324" cy="3533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66928" y="35661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6656" y="39319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 context; spec the change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3904" y="3154680"/>
            <a:ext cx="164592" cy="16459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33360" y="2286000"/>
            <a:ext cx="1992112" cy="237744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28248" y="208483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0"/>
          <p:cNvSpPr/>
          <p:nvPr/>
        </p:nvSpPr>
        <p:spPr>
          <a:xfrm>
            <a:off x="3628248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445368" y="2670048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754" y="2877434"/>
            <a:ext cx="353324" cy="3533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33360" y="35661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Define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2943088" y="39319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Acceptance criteria + test plan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336" y="3154680"/>
            <a:ext cx="164592" cy="1645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099792" y="2286000"/>
            <a:ext cx="1992112" cy="237744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894680" y="208483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16"/>
          <p:cNvSpPr/>
          <p:nvPr/>
        </p:nvSpPr>
        <p:spPr>
          <a:xfrm>
            <a:off x="589468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5711800" y="2670048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186" y="2877434"/>
            <a:ext cx="353324" cy="35332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99792" y="35661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209520" y="39319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Principle review before code</a:t>
            </a:r>
            <a:endParaRPr lang="en-US" sz="10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6768" y="3154680"/>
            <a:ext cx="164592" cy="1645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7366224" y="2286000"/>
            <a:ext cx="1992112" cy="237744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8161111" y="208483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0" name="Text 22"/>
          <p:cNvSpPr/>
          <p:nvPr/>
        </p:nvSpPr>
        <p:spPr>
          <a:xfrm>
            <a:off x="8161111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Shape 23"/>
          <p:cNvSpPr/>
          <p:nvPr/>
        </p:nvSpPr>
        <p:spPr>
          <a:xfrm>
            <a:off x="7978231" y="2670048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5617" y="2877434"/>
            <a:ext cx="353324" cy="35332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366224" y="35661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 &amp; Test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7475952" y="39319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Code, CI gates, release ritual</a:t>
            </a:r>
            <a:endParaRPr lang="en-US" sz="10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3199" y="3154680"/>
            <a:ext cx="164592" cy="1645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9632655" y="2286000"/>
            <a:ext cx="1992112" cy="2377440"/>
          </a:xfrm>
          <a:prstGeom prst="roundRect">
            <a:avLst>
              <a:gd name="adj" fmla="val 4131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0427543" y="2084832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8" name="Text 28"/>
          <p:cNvSpPr/>
          <p:nvPr/>
        </p:nvSpPr>
        <p:spPr>
          <a:xfrm>
            <a:off x="10427543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122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Shape 29"/>
          <p:cNvSpPr/>
          <p:nvPr/>
        </p:nvSpPr>
        <p:spPr>
          <a:xfrm>
            <a:off x="10244663" y="2670048"/>
            <a:ext cx="768096" cy="768096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2049" y="2877434"/>
            <a:ext cx="353324" cy="353324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632655" y="3566160"/>
            <a:ext cx="199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Operate</a:t>
            </a:r>
            <a:endParaRPr lang="en-US" sz="1500" dirty="0"/>
          </a:p>
        </p:txBody>
      </p:sp>
      <p:sp>
        <p:nvSpPr>
          <p:cNvPr id="42" name="Text 31"/>
          <p:cNvSpPr/>
          <p:nvPr/>
        </p:nvSpPr>
        <p:spPr>
          <a:xfrm>
            <a:off x="9742383" y="3931920"/>
            <a:ext cx="177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Monitor, re-audit, patch</a:t>
            </a:r>
            <a:endParaRPr lang="en-US" sz="1050" dirty="0"/>
          </a:p>
        </p:txBody>
      </p:sp>
      <p:sp>
        <p:nvSpPr>
          <p:cNvPr id="43" name="Text 32"/>
          <p:cNvSpPr/>
          <p:nvPr/>
        </p:nvSpPr>
        <p:spPr>
          <a:xfrm>
            <a:off x="566928" y="51663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329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by Design isn't only for headline features — it applies to every material change, however small.</a:t>
            </a:r>
            <a:endParaRPr lang="en-US" sz="1300" dirty="0"/>
          </a:p>
        </p:txBody>
      </p:sp>
      <p:sp>
        <p:nvSpPr>
          <p:cNvPr id="44" name="Text 33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CODE ·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Principles become engineering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29968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482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993392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P8 · Complete mediation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91056" y="2249424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Ownership &amp; auth checks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7824" y="2788920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mutation re-checks ownership inside the service before it writes — closing the TOCTOU gap a pin service once had.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737360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1336" y="2029968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282" y="2192914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02856" y="1993392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P6 · Least privilege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302856" y="2249424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RBAC + Focus Mode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89624" y="2788920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Fine-grained resource:action permissions across 10 roles; Focus Mode shrinks a user to a single active role.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3922776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" y="4215384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82" y="4378330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91056" y="4178808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P11 · Don't trust input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591056" y="4434840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Sandbox · params · CSP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77824" y="4974336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Jinja SandboxedEnvironment, parameterised SQL, and a strict CSP (per-request nonces; no inline handlers).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78728" y="3922776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71336" y="4215384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282" y="4378330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2856" y="4178808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P7 · Secure defaults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302856" y="4434840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Fail-safe by default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589624" y="4974336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Capabilities default safe; RAG layers default on but degrade to a silent no-op with no AI host — never to unsafe.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CODE ·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Designed to contain and reveal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29968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482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993392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 · Defence in depth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91056" y="2249424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Layered middleware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7824" y="2788920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Security-headers, rate-limit, monitoring and request-logging middleware; circuit breakers on every integration.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737360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1336" y="2029968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282" y="2192914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02856" y="1993392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P12 · Detect compromise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302856" y="2249424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Tamper-evident ledger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89624" y="2788920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workbench evidence ledger is a sha256 hash-chain — any change is detectable; ECS audit logs throughout.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3922776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" y="4215384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82" y="4378330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91056" y="4178808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P13 · Reduce impact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591056" y="4434840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minimisation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77824" y="4974336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tokens stored only as SHA-256 hashes; configurable retention; air-gap shrinks the blast radius.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78728" y="3922776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71336" y="4215384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282" y="4378330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2856" y="4178808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B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P17 · Eliminate vuln classes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302856" y="4434840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Whole-class removal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589624" y="4974336"/>
            <a:ext cx="47425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Retired python-jose/ecdsa for PyJWT (RS256-only); advisory-lock leader election removes race classes outright.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DEV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Guardrails that catch issues before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976933"/>
            <a:ext cx="252374" cy="2523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10512"/>
            <a:ext cx="2728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pair-programmer guards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2468880"/>
            <a:ext cx="3442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PostToolUse ruff hook lints every edited file; a PreToolUse guard gates edits to auth / cert / entrypoint paths.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74794" y="1828800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927" y="1976933"/>
            <a:ext cx="252374" cy="25237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88026" y="1810512"/>
            <a:ext cx="2728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Specialist review agents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374794" y="2468880"/>
            <a:ext cx="3442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security-reviewer, workbench-ledger-reviewer (TOCTOU + chain) and release-checker run before commit/tag.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82661" y="1828800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794" y="1976933"/>
            <a:ext cx="252374" cy="25237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95893" y="1810512"/>
            <a:ext cx="2728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Gotchas pinned by tests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82661" y="2468880"/>
            <a:ext cx="3442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subtle bug found gets a regression test so it cannot silently return.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66928" y="3840480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1" y="398861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822192"/>
            <a:ext cx="2728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Process artifacts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566928" y="4480560"/>
            <a:ext cx="3442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CODEOWNERS, CONTRIBUTING and a pre-commit suite (ruff + bandit + pip-audit) mirror the CI gates locally.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374794" y="3840480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927" y="3988613"/>
            <a:ext cx="252374" cy="25237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088026" y="3822192"/>
            <a:ext cx="2728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WHY-only comments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374794" y="4480560"/>
            <a:ext cx="3442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Comments capture rationale, not mechanics; decisions live in durable project memory.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8182661" y="3840480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794" y="3988613"/>
            <a:ext cx="252374" cy="25237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95893" y="3822192"/>
            <a:ext cx="27288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Simplicity + open design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82661" y="4480560"/>
            <a:ext cx="344210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Server-rendered, no SPA; one obvious way; security never relies on the design being secret.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RELEASE GATE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Nothing ships until the gates are green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E2143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suite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852928" y="1691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E2143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3580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ruff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3580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138928" y="1691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E2143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bandit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lint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424928" y="169164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0E2143"/>
          </a:solidFill>
          <a:ln w="12700">
            <a:solidFill>
              <a:srgbClr val="1C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pip-audit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07808" y="2103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dependency CVEs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756648" y="1755648"/>
            <a:ext cx="384048" cy="384048"/>
          </a:xfrm>
          <a:prstGeom prst="ellipse">
            <a:avLst/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0341" y="1859341"/>
            <a:ext cx="176662" cy="17666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259568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 block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 &amp; release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66928" y="274320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1248" y="3035808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3183941"/>
            <a:ext cx="252374" cy="25237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527048" y="301752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Two-commit pattern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1527048" y="3401568"/>
            <a:ext cx="420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reviewable feat/fix commit; one mechanical chore(release) — clean to audit and bisect.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278728" y="274320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553048" y="3035808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180" y="3183941"/>
            <a:ext cx="252374" cy="25237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238848" y="301752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SBOM in every image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7238848" y="3401568"/>
            <a:ext cx="420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syft generates an SPDX bill of materials at build time, shipped inside the image (P16).</a:t>
            </a:r>
            <a:endParaRPr lang="en-US" sz="1150" dirty="0"/>
          </a:p>
        </p:txBody>
      </p:sp>
      <p:sp>
        <p:nvSpPr>
          <p:cNvPr id="29" name="Shape 24"/>
          <p:cNvSpPr/>
          <p:nvPr/>
        </p:nvSpPr>
        <p:spPr>
          <a:xfrm>
            <a:off x="566928" y="457200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841248" y="4864608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5012741"/>
            <a:ext cx="252374" cy="25237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527048" y="484632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Signed + protected main</a:t>
            </a:r>
            <a:endParaRPr lang="en-US" sz="1450" dirty="0"/>
          </a:p>
        </p:txBody>
      </p:sp>
      <p:sp>
        <p:nvSpPr>
          <p:cNvPr id="33" name="Text 27"/>
          <p:cNvSpPr/>
          <p:nvPr/>
        </p:nvSpPr>
        <p:spPr>
          <a:xfrm>
            <a:off x="1527048" y="5230368"/>
            <a:ext cx="420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Commits are signed; main enforces signature + linear-history branch protection (P15).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6278728" y="4572000"/>
            <a:ext cx="5346040" cy="1554480"/>
          </a:xfrm>
          <a:prstGeom prst="roundRect">
            <a:avLst>
              <a:gd name="adj" fmla="val 4706"/>
            </a:avLst>
          </a:prstGeom>
          <a:solidFill>
            <a:srgbClr val="0E2143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553048" y="4864608"/>
            <a:ext cx="548640" cy="548640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180" y="5012741"/>
            <a:ext cx="252374" cy="25237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38848" y="4846320"/>
            <a:ext cx="424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Human acceptance walk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7238848" y="5230368"/>
            <a:ext cx="420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a release ships, the maintainer drives the actual built image through the new feature in a browser.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ritual, eight files, zero drift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883664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8836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69848" y="178308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pyproject.toml — source of truth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313432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14016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1401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31343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src/ion/__init__.py — template-load-bearing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2843784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944368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94436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69848" y="284378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README.md — version badge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374136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474720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47472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" y="337413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Dockerfile — OCI image label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904488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4005072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40050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69848" y="390448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docker-compose.yml — two service tags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4434840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535424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53542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69848" y="44348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.env.deploy — ION_VERSION + comment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66928" y="4965192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065776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" y="506577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69848" y="496519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CHANGELOG.md — new dated entry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6928" y="5495544"/>
            <a:ext cx="6309360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" y="5596128"/>
            <a:ext cx="246888" cy="246888"/>
          </a:xfrm>
          <a:prstGeom prst="roundRect">
            <a:avLst>
              <a:gd name="adj" fmla="val 14815"/>
            </a:avLst>
          </a:prstGeom>
          <a:solidFill>
            <a:srgbClr val="081226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" y="559612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69848" y="549554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SECURITY_ASSESSMENT.md — severity column + delta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242048" y="1783080"/>
            <a:ext cx="4382719" cy="3840480"/>
          </a:xfrm>
          <a:prstGeom prst="roundRect">
            <a:avLst>
              <a:gd name="adj" fmla="val 2143"/>
            </a:avLst>
          </a:prstGeom>
          <a:solidFill>
            <a:srgbClr val="0E2143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62088" y="2011680"/>
            <a:ext cx="3742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all eight, every time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562088" y="2395728"/>
            <a:ext cx="37426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missed bump is a silent integrity bug. __version__ once rotted for 13 releases — so the ritual is mandatory and two sanity-check greps must return empty before a tag.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62088" y="3840480"/>
            <a:ext cx="3742639" cy="0"/>
          </a:xfrm>
          <a:prstGeom prst="line">
            <a:avLst/>
          </a:prstGeom>
          <a:noFill/>
          <a:ln w="12700">
            <a:solidFill>
              <a:srgbClr val="1329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62088" y="3977640"/>
            <a:ext cx="3742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Assessment, not afterthought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562088" y="4361688"/>
            <a:ext cx="374263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 8 forces a security delta every release: the severity-trend table extends and any net-new attack surface is named — even when the answer is "0 / 0 / 0 / 0".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D4B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PROOF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issues the process caught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29968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482" y="2192914"/>
            <a:ext cx="277612" cy="2776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91056" y="1993392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v0.20.1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591056" y="2249424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TOCTOU pin ownership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77824" y="2788920"/>
            <a:ext cx="474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ownership check ran before, not during, the write. Moved inside the service; now pinned by test and an audit rule.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8728" y="1737360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71336" y="2029968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282" y="2192914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02856" y="1993392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v0.22.1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302856" y="2249424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Permission null-bypass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6589624" y="2788920"/>
            <a:ext cx="474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PUT could bypass a perm gate via Pydantic exclude_unset. Now compared against stored state via model_fields_set.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3922776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9536" y="4215384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82" y="4378330"/>
            <a:ext cx="277612" cy="2776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91056" y="4178808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v0.31.25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591056" y="4434840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Supply-chain typo-squat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77824" y="4974336"/>
            <a:ext cx="474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pip-audit gate caught a malicious fastapi wheel adding a typo-squatted dep. Pinned away; disclosed in the assessment.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78728" y="3922776"/>
            <a:ext cx="534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71336" y="4215384"/>
            <a:ext cx="603504" cy="603504"/>
          </a:xfrm>
          <a:prstGeom prst="ellipse">
            <a:avLst/>
          </a:prstGeom>
          <a:solidFill>
            <a:srgbClr val="081226"/>
          </a:solidFill>
          <a:ln/>
          <a:effectLst>
            <a:outerShdw sx="100000" sy="100000" kx="0" ky="0" algn="bl" rotWithShape="0" blurRad="114300" dist="38100" dir="5400000">
              <a:srgbClr val="0A1730">
                <a:alpha val="16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282" y="4378330"/>
            <a:ext cx="277612" cy="2776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02856" y="4178808"/>
            <a:ext cx="415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7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v0.32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302856" y="4434840"/>
            <a:ext cx="415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A173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Silent enum-name storage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6589624" y="4974336"/>
            <a:ext cx="47425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SQLEnum stored the NAME, so raw SQL seeds inserted zero rows for 9 versions. Caught, fixed and pinned by a contract test.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566928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7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</a:t>
            </a:r>
            <a:pPr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Secure by Design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881567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v0.38.0 · 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2801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7000"/>
              </a:lnSpc>
              <a:buNone/>
            </a:pPr>
            <a:r>
              <a:rPr lang="en-US" sz="46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 isn't a phase.</a:t>
            </a:r>
            <a:endParaRPr lang="en-US" sz="4600" dirty="0"/>
          </a:p>
          <a:p>
            <a:pPr indent="0" marL="0">
              <a:lnSpc>
                <a:spcPct val="107000"/>
              </a:lnSpc>
              <a:buNone/>
            </a:pPr>
            <a:r>
              <a:rPr lang="en-US" sz="4600" b="1" dirty="0">
                <a:solidFill>
                  <a:srgbClr val="E9F1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the process.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66928" y="329184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principles, audited and published every single release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into the code — least privilege, complete mediation, defence in depth, fail-safe defaults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Enforced at the gate — CI, SBOM, signed commits, and a human walk of the real image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9FB6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Proven by the issues it has caught — and pinned so they never return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F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ION · Secure by Design</a:t>
            </a:r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19/20 met · 0 open findings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 — Secure by Design</dc:title>
  <dc:subject>PptxGenJS Presentation</dc:subject>
  <dc:creator>PptxGenJS</dc:creator>
  <cp:lastModifiedBy>PptxGenJS</cp:lastModifiedBy>
  <cp:revision>1</cp:revision>
  <dcterms:created xsi:type="dcterms:W3CDTF">2026-06-02T08:31:59Z</dcterms:created>
  <dcterms:modified xsi:type="dcterms:W3CDTF">2026-06-02T08:31:59Z</dcterms:modified>
</cp:coreProperties>
</file>