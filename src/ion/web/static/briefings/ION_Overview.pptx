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Prefixes ON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9F1FF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nDCG@10</c:v>
                  </c:pt>
                  <c:pt idx="1">
                    <c:v>MAP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0.0853</c:v>
                </c:pt>
                <c:pt idx="1">
                  <c:v>0.1017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prefixes</c:v>
                </c:pt>
              </c:strCache>
            </c:strRef>
          </c:tx>
          <c:spPr>
            <a:solidFill>
              <a:srgbClr val="44608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9F1FF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nDCG@10</c:v>
                  </c:pt>
                  <c:pt idx="1">
                    <c:v>MAP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0.0543</c:v>
                </c:pt>
                <c:pt idx="1">
                  <c:v>0.0642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E9F1FF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FB6DA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3"/>
        </c:scaling>
        <c:delete val="1"/>
        <c:axPos val="l"/>
        <c:majorGridlines>
          <c:spPr>
            <a:ln w="6350" cap="flat">
              <a:solidFill>
                <a:srgbClr val="1C3A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6DA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FB6DA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solidFill>
      <a:srgbClr val="0E214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71048" y="886968"/>
            <a:ext cx="822960" cy="731520"/>
          </a:xfrm>
          <a:prstGeom prst="line">
            <a:avLst/>
          </a:prstGeom>
          <a:noFill/>
          <a:ln w="12700">
            <a:solidFill>
              <a:srgbClr val="1C3A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71048" y="886968"/>
            <a:ext cx="-640080" cy="914400"/>
          </a:xfrm>
          <a:prstGeom prst="line">
            <a:avLst/>
          </a:prstGeom>
          <a:noFill/>
          <a:ln w="12700">
            <a:solidFill>
              <a:srgbClr val="1C3A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94008" y="1618488"/>
            <a:ext cx="-1463040" cy="182880"/>
          </a:xfrm>
          <a:prstGeom prst="line">
            <a:avLst/>
          </a:prstGeom>
          <a:noFill/>
          <a:ln w="12700">
            <a:solidFill>
              <a:srgbClr val="1C3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94008" y="1618488"/>
            <a:ext cx="-274320" cy="914400"/>
          </a:xfrm>
          <a:prstGeom prst="line">
            <a:avLst/>
          </a:prstGeom>
          <a:noFill/>
          <a:ln w="12700">
            <a:solidFill>
              <a:srgbClr val="1C3A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30968" y="1801368"/>
            <a:ext cx="1188720" cy="731520"/>
          </a:xfrm>
          <a:prstGeom prst="line">
            <a:avLst/>
          </a:prstGeom>
          <a:noFill/>
          <a:ln w="12700">
            <a:solidFill>
              <a:srgbClr val="1C3A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30968" y="1801368"/>
            <a:ext cx="365760" cy="1005840"/>
          </a:xfrm>
          <a:prstGeom prst="line">
            <a:avLst/>
          </a:prstGeom>
          <a:noFill/>
          <a:ln w="12700">
            <a:solidFill>
              <a:srgbClr val="1C3A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9688" y="2532888"/>
            <a:ext cx="-822960" cy="274320"/>
          </a:xfrm>
          <a:prstGeom prst="line">
            <a:avLst/>
          </a:prstGeom>
          <a:noFill/>
          <a:ln w="12700">
            <a:solidFill>
              <a:srgbClr val="1C3A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9688" y="2532888"/>
            <a:ext cx="457200" cy="822960"/>
          </a:xfrm>
          <a:prstGeom prst="line">
            <a:avLst/>
          </a:prstGeom>
          <a:noFill/>
          <a:ln w="12700">
            <a:solidFill>
              <a:srgbClr val="1C3A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96728" y="2807208"/>
            <a:ext cx="1280160" cy="548640"/>
          </a:xfrm>
          <a:prstGeom prst="line">
            <a:avLst/>
          </a:prstGeom>
          <a:noFill/>
          <a:ln w="12700">
            <a:solidFill>
              <a:srgbClr val="1C3A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82296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0" y="1554480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Shape 11"/>
          <p:cNvSpPr/>
          <p:nvPr/>
        </p:nvSpPr>
        <p:spPr>
          <a:xfrm>
            <a:off x="9966960" y="173736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55680" y="2468880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332720" y="274320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612880" y="3291840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187452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spc="200" kern="0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ION</a:t>
            </a:r>
            <a:endParaRPr lang="en-US" sz="13000" dirty="0"/>
          </a:p>
        </p:txBody>
      </p:sp>
      <p:sp>
        <p:nvSpPr>
          <p:cNvPr id="18" name="Shape 16"/>
          <p:cNvSpPr/>
          <p:nvPr/>
        </p:nvSpPr>
        <p:spPr>
          <a:xfrm>
            <a:off x="630936" y="3456432"/>
            <a:ext cx="246888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Intelligent Operating Network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66928" y="422452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AI-augmented Security Operations portal — one platform across the SOC stack, built for air-gapped environments.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6928" y="521208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2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21408" y="5212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Capability &amp; Architecture Overview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720547" y="420624"/>
            <a:ext cx="76810" cy="7681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698602" y="574243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SOC teams drown in tools and alerts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2490140" cy="3840480"/>
          </a:xfrm>
          <a:prstGeom prst="roundRect">
            <a:avLst>
              <a:gd name="adj" fmla="val 3305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6968" y="2286000"/>
            <a:ext cx="868680" cy="86868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512" y="2520544"/>
            <a:ext cx="399593" cy="3995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3337560"/>
            <a:ext cx="19415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Alert overload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41248" y="3977640"/>
            <a:ext cx="19415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Analysts triage thousands of low-context alerts daily; real threats hide in the noise.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422828" y="1965960"/>
            <a:ext cx="2490140" cy="3840480"/>
          </a:xfrm>
          <a:prstGeom prst="roundRect">
            <a:avLst>
              <a:gd name="adj" fmla="val 3305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42868" y="2286000"/>
            <a:ext cx="868680" cy="86868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411" y="2520544"/>
            <a:ext cx="399593" cy="3995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97148" y="3337560"/>
            <a:ext cx="19415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Tool sprawl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697148" y="3977640"/>
            <a:ext cx="19415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Detection, intel, forensics, identity and case data live in separate consoles that don't talk.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278728" y="1965960"/>
            <a:ext cx="2490140" cy="3840480"/>
          </a:xfrm>
          <a:prstGeom prst="roundRect">
            <a:avLst>
              <a:gd name="adj" fmla="val 3305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98768" y="2286000"/>
            <a:ext cx="868680" cy="86868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3311" y="2520544"/>
            <a:ext cx="399593" cy="3995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53048" y="3337560"/>
            <a:ext cx="19415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Slow, inconsistent triage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553048" y="3977640"/>
            <a:ext cx="19415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Verdict quality swings with analyst experience and fatigue; MTTR suffers.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9134627" y="1965960"/>
            <a:ext cx="2490140" cy="3840480"/>
          </a:xfrm>
          <a:prstGeom prst="roundRect">
            <a:avLst>
              <a:gd name="adj" fmla="val 3305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454667" y="2286000"/>
            <a:ext cx="868680" cy="86868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9211" y="2520544"/>
            <a:ext cx="399593" cy="3995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08947" y="3337560"/>
            <a:ext cx="19415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Air-gapped reality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9408947" y="3977640"/>
            <a:ext cx="19415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High-assurance estates can't reach cloud AI or live feeds — most modern tooling assumes they can.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566928" y="59436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329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 unifies the SOC stack behind one portal — and puts a local AI analyst inside the perimeter.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algn="l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Intelligent Operating Network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  · 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720547" y="420624"/>
            <a:ext cx="76810" cy="7681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698602" y="574243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ION IS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portal for the whole SOC workflow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87452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 (Intelligent Operating Network) is a server-rendered Security Operations portal that ingests alerts, manages cases, drives investigations and response, and embeds a local LLM analyst — all without leaving an air-gapped network.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3383280"/>
            <a:ext cx="548640" cy="54864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3531413"/>
            <a:ext cx="252374" cy="2523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3383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   </a:t>
            </a:r>
            <a:pPr indent="0" marL="0">
              <a:buNone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 → cases → forensics → reporting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66928" y="4096512"/>
            <a:ext cx="548640" cy="54864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4244645"/>
            <a:ext cx="252374" cy="2523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40965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Air-gapped first   </a:t>
            </a:r>
            <a:pPr indent="0" marL="0">
              <a:buNone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live external feeds; runs fully offline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66928" y="4809744"/>
            <a:ext cx="548640" cy="54864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4957877"/>
            <a:ext cx="252374" cy="25237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480974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analyst (Bob)   </a:t>
            </a:r>
            <a:pPr indent="0" marL="0">
              <a:buNone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Ollama LLM, RAG-grounded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66928" y="5522976"/>
            <a:ext cx="548640" cy="54864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" y="5671109"/>
            <a:ext cx="252374" cy="2523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552297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SPA   </a:t>
            </a:r>
            <a:pPr indent="0" marL="0">
              <a:buNone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+ Jinja2, server-rendered HTML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7040880" y="1874520"/>
            <a:ext cx="4583887" cy="4206240"/>
          </a:xfrm>
          <a:prstGeom prst="roundRect">
            <a:avLst>
              <a:gd name="adj" fmla="val 1957"/>
            </a:avLst>
          </a:prstGeom>
          <a:solidFill>
            <a:srgbClr val="0E2143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7406640" y="2194560"/>
            <a:ext cx="38523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11+</a:t>
            </a:r>
            <a:endParaRPr lang="en-US" sz="3400" dirty="0"/>
          </a:p>
        </p:txBody>
      </p:sp>
      <p:sp>
        <p:nvSpPr>
          <p:cNvPr id="22" name="Text 16"/>
          <p:cNvSpPr/>
          <p:nvPr/>
        </p:nvSpPr>
        <p:spPr>
          <a:xfrm>
            <a:off x="7406640" y="2743200"/>
            <a:ext cx="38523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integrations across the SOC stack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406640" y="3163824"/>
            <a:ext cx="38523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80+</a:t>
            </a:r>
            <a:endParaRPr lang="en-US" sz="3400" dirty="0"/>
          </a:p>
        </p:txBody>
      </p:sp>
      <p:sp>
        <p:nvSpPr>
          <p:cNvPr id="24" name="Text 18"/>
          <p:cNvSpPr/>
          <p:nvPr/>
        </p:nvSpPr>
        <p:spPr>
          <a:xfrm>
            <a:off x="7406640" y="3712464"/>
            <a:ext cx="38523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modules, 60+ API routers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406640" y="4133088"/>
            <a:ext cx="38523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6-layer</a:t>
            </a:r>
            <a:endParaRPr lang="en-US" sz="3400" dirty="0"/>
          </a:p>
        </p:txBody>
      </p:sp>
      <p:sp>
        <p:nvSpPr>
          <p:cNvPr id="26" name="Text 20"/>
          <p:cNvSpPr/>
          <p:nvPr/>
        </p:nvSpPr>
        <p:spPr>
          <a:xfrm>
            <a:off x="7406640" y="4681728"/>
            <a:ext cx="38523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prompt stack behind every AI verdict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406640" y="5102352"/>
            <a:ext cx="38523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 / 0 / 0 / 0</a:t>
            </a:r>
            <a:endParaRPr lang="en-US" sz="3400" dirty="0"/>
          </a:p>
        </p:txBody>
      </p:sp>
      <p:sp>
        <p:nvSpPr>
          <p:cNvPr id="28" name="Text 22"/>
          <p:cNvSpPr/>
          <p:nvPr/>
        </p:nvSpPr>
        <p:spPr>
          <a:xfrm>
            <a:off x="7406640" y="5650992"/>
            <a:ext cx="38523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/ high / med / low findings (v0.38.0)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algn="l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Intelligent Operating Network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  · 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720547" y="420624"/>
            <a:ext cx="76810" cy="7681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698602" y="574243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alert lifecycle, end to end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2468880"/>
            <a:ext cx="1599133" cy="2468880"/>
          </a:xfrm>
          <a:prstGeom prst="roundRect">
            <a:avLst>
              <a:gd name="adj" fmla="val 5146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65327" y="2267712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1165327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2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82447" y="2880360"/>
            <a:ext cx="768096" cy="768096"/>
          </a:xfrm>
          <a:prstGeom prst="ellipse">
            <a:avLst/>
          </a:prstGeom>
          <a:solidFill>
            <a:srgbClr val="0E2143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833" y="3087746"/>
            <a:ext cx="353324" cy="35332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66928" y="3794760"/>
            <a:ext cx="15991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Ingest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76656" y="4160520"/>
            <a:ext cx="137967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Poll Elasticsearch; normalise to ECS</a:t>
            </a:r>
            <a:endParaRPr lang="en-US" sz="10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069" y="3383280"/>
            <a:ext cx="164592" cy="16459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458669" y="2468880"/>
            <a:ext cx="1599133" cy="2468880"/>
          </a:xfrm>
          <a:prstGeom prst="roundRect">
            <a:avLst>
              <a:gd name="adj" fmla="val 5146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057068" y="2267712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3"/>
          <p:cNvSpPr/>
          <p:nvPr/>
        </p:nvSpPr>
        <p:spPr>
          <a:xfrm>
            <a:off x="3057068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2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2874188" y="2880360"/>
            <a:ext cx="768096" cy="768096"/>
          </a:xfrm>
          <a:prstGeom prst="ellipse">
            <a:avLst/>
          </a:prstGeom>
          <a:solidFill>
            <a:srgbClr val="0E2143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574" y="3087746"/>
            <a:ext cx="353324" cy="3533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458669" y="3794760"/>
            <a:ext cx="15991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Triage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2568397" y="4160520"/>
            <a:ext cx="137967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FP/TP suggestions; auto-investigation queue</a:t>
            </a:r>
            <a:endParaRPr lang="en-US" sz="10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810" y="3383280"/>
            <a:ext cx="164592" cy="16459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350410" y="2468880"/>
            <a:ext cx="1599133" cy="2468880"/>
          </a:xfrm>
          <a:prstGeom prst="roundRect">
            <a:avLst>
              <a:gd name="adj" fmla="val 5146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948809" y="2267712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5" name="Text 19"/>
          <p:cNvSpPr/>
          <p:nvPr/>
        </p:nvSpPr>
        <p:spPr>
          <a:xfrm>
            <a:off x="4948809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2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765929" y="2880360"/>
            <a:ext cx="768096" cy="768096"/>
          </a:xfrm>
          <a:prstGeom prst="ellipse">
            <a:avLst/>
          </a:prstGeom>
          <a:solidFill>
            <a:srgbClr val="0E2143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3315" y="3087746"/>
            <a:ext cx="353324" cy="35332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350410" y="3794760"/>
            <a:ext cx="15991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Case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460138" y="4160520"/>
            <a:ext cx="137967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Escalate; bi-dir Kibana case sync</a:t>
            </a:r>
            <a:endParaRPr lang="en-US" sz="10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3552" y="3383280"/>
            <a:ext cx="164592" cy="16459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242152" y="2468880"/>
            <a:ext cx="1599133" cy="2468880"/>
          </a:xfrm>
          <a:prstGeom prst="roundRect">
            <a:avLst>
              <a:gd name="adj" fmla="val 5146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840550" y="2267712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3" name="Text 25"/>
          <p:cNvSpPr/>
          <p:nvPr/>
        </p:nvSpPr>
        <p:spPr>
          <a:xfrm>
            <a:off x="6840550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2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Shape 26"/>
          <p:cNvSpPr/>
          <p:nvPr/>
        </p:nvSpPr>
        <p:spPr>
          <a:xfrm>
            <a:off x="6657670" y="2880360"/>
            <a:ext cx="768096" cy="768096"/>
          </a:xfrm>
          <a:prstGeom prst="ellipse">
            <a:avLst/>
          </a:prstGeom>
          <a:solidFill>
            <a:srgbClr val="0E2143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5056" y="3087746"/>
            <a:ext cx="353324" cy="35332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242152" y="3794760"/>
            <a:ext cx="15991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Investigate</a:t>
            </a:r>
            <a:endParaRPr lang="en-US" sz="1500" dirty="0"/>
          </a:p>
        </p:txBody>
      </p:sp>
      <p:sp>
        <p:nvSpPr>
          <p:cNvPr id="37" name="Text 28"/>
          <p:cNvSpPr/>
          <p:nvPr/>
        </p:nvSpPr>
        <p:spPr>
          <a:xfrm>
            <a:off x="6351880" y="4160520"/>
            <a:ext cx="137967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Observables, enrichment, timelines, AI</a:t>
            </a:r>
            <a:endParaRPr lang="en-US" sz="105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5293" y="3383280"/>
            <a:ext cx="164592" cy="164592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8133893" y="2468880"/>
            <a:ext cx="1599133" cy="2468880"/>
          </a:xfrm>
          <a:prstGeom prst="roundRect">
            <a:avLst>
              <a:gd name="adj" fmla="val 5146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40" name="Shape 30"/>
          <p:cNvSpPr/>
          <p:nvPr/>
        </p:nvSpPr>
        <p:spPr>
          <a:xfrm>
            <a:off x="8732291" y="2267712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1" name="Text 31"/>
          <p:cNvSpPr/>
          <p:nvPr/>
        </p:nvSpPr>
        <p:spPr>
          <a:xfrm>
            <a:off x="8732291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2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500" dirty="0"/>
          </a:p>
        </p:txBody>
      </p:sp>
      <p:sp>
        <p:nvSpPr>
          <p:cNvPr id="42" name="Shape 32"/>
          <p:cNvSpPr/>
          <p:nvPr/>
        </p:nvSpPr>
        <p:spPr>
          <a:xfrm>
            <a:off x="8549411" y="2880360"/>
            <a:ext cx="768096" cy="768096"/>
          </a:xfrm>
          <a:prstGeom prst="ellipse">
            <a:avLst/>
          </a:prstGeom>
          <a:solidFill>
            <a:srgbClr val="0E2143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6797" y="3087746"/>
            <a:ext cx="353324" cy="353324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8133893" y="3794760"/>
            <a:ext cx="15991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Respond</a:t>
            </a:r>
            <a:endParaRPr lang="en-US" sz="1500" dirty="0"/>
          </a:p>
        </p:txBody>
      </p:sp>
      <p:sp>
        <p:nvSpPr>
          <p:cNvPr id="45" name="Text 34"/>
          <p:cNvSpPr/>
          <p:nvPr/>
        </p:nvSpPr>
        <p:spPr>
          <a:xfrm>
            <a:off x="8243621" y="4160520"/>
            <a:ext cx="137967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Playbooks; block / disable / quarantine</a:t>
            </a:r>
            <a:endParaRPr lang="en-US" sz="1050" dirty="0"/>
          </a:p>
        </p:txBody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97034" y="3383280"/>
            <a:ext cx="164592" cy="164592"/>
          </a:xfrm>
          <a:prstGeom prst="rect">
            <a:avLst/>
          </a:prstGeom>
        </p:spPr>
      </p:pic>
      <p:sp>
        <p:nvSpPr>
          <p:cNvPr id="47" name="Shape 35"/>
          <p:cNvSpPr/>
          <p:nvPr/>
        </p:nvSpPr>
        <p:spPr>
          <a:xfrm>
            <a:off x="10025634" y="2468880"/>
            <a:ext cx="1599133" cy="2468880"/>
          </a:xfrm>
          <a:prstGeom prst="roundRect">
            <a:avLst>
              <a:gd name="adj" fmla="val 5146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48" name="Shape 36"/>
          <p:cNvSpPr/>
          <p:nvPr/>
        </p:nvSpPr>
        <p:spPr>
          <a:xfrm>
            <a:off x="10624033" y="2267712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9" name="Text 37"/>
          <p:cNvSpPr/>
          <p:nvPr/>
        </p:nvSpPr>
        <p:spPr>
          <a:xfrm>
            <a:off x="10624033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2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500" dirty="0"/>
          </a:p>
        </p:txBody>
      </p:sp>
      <p:sp>
        <p:nvSpPr>
          <p:cNvPr id="50" name="Shape 38"/>
          <p:cNvSpPr/>
          <p:nvPr/>
        </p:nvSpPr>
        <p:spPr>
          <a:xfrm>
            <a:off x="10441153" y="2880360"/>
            <a:ext cx="768096" cy="768096"/>
          </a:xfrm>
          <a:prstGeom prst="ellipse">
            <a:avLst/>
          </a:prstGeom>
          <a:solidFill>
            <a:srgbClr val="0E2143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48539" y="3087746"/>
            <a:ext cx="353324" cy="353324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10025634" y="3794760"/>
            <a:ext cx="15991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Close</a:t>
            </a:r>
            <a:endParaRPr lang="en-US" sz="1500" dirty="0"/>
          </a:p>
        </p:txBody>
      </p:sp>
      <p:sp>
        <p:nvSpPr>
          <p:cNvPr id="53" name="Text 40"/>
          <p:cNvSpPr/>
          <p:nvPr/>
        </p:nvSpPr>
        <p:spPr>
          <a:xfrm>
            <a:off x="10135362" y="4160520"/>
            <a:ext cx="137967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 recorded → feeds future triage</a:t>
            </a:r>
            <a:endParaRPr lang="en-US" sz="1050" dirty="0"/>
          </a:p>
        </p:txBody>
      </p:sp>
      <p:sp>
        <p:nvSpPr>
          <p:cNvPr id="54" name="Text 41"/>
          <p:cNvSpPr/>
          <p:nvPr/>
        </p:nvSpPr>
        <p:spPr>
          <a:xfrm>
            <a:off x="566928" y="53492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329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closure feeds the next triage — and analyst-agreed cases become AI few-shot exemplars.</a:t>
            </a:r>
            <a:endParaRPr lang="en-US" sz="1300" dirty="0"/>
          </a:p>
        </p:txBody>
      </p:sp>
      <p:sp>
        <p:nvSpPr>
          <p:cNvPr id="55" name="Text 42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algn="l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Intelligent Operating Network</a:t>
            </a:r>
            <a:endParaRPr lang="en-US" sz="900" dirty="0"/>
          </a:p>
        </p:txBody>
      </p:sp>
      <p:sp>
        <p:nvSpPr>
          <p:cNvPr id="56" name="Text 43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  · 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720547" y="420624"/>
            <a:ext cx="76810" cy="7681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698602" y="574243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ECOSYSTEM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11+ integrations, one operating picture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095848" y="3794760"/>
            <a:ext cx="0" cy="-2148840"/>
          </a:xfrm>
          <a:prstGeom prst="line">
            <a:avLst/>
          </a:prstGeom>
          <a:noFill/>
          <a:ln w="15875">
            <a:solidFill>
              <a:srgbClr val="1C3A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5848" y="3794760"/>
            <a:ext cx="2263140" cy="-1860950"/>
          </a:xfrm>
          <a:prstGeom prst="line">
            <a:avLst/>
          </a:prstGeom>
          <a:noFill/>
          <a:ln w="15875">
            <a:solidFill>
              <a:srgbClr val="1C3A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5848" y="3794760"/>
            <a:ext cx="3919873" cy="-1074420"/>
          </a:xfrm>
          <a:prstGeom prst="line">
            <a:avLst/>
          </a:prstGeom>
          <a:noFill/>
          <a:ln w="15875">
            <a:solidFill>
              <a:srgbClr val="1C3A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5848" y="3794760"/>
            <a:ext cx="4526280" cy="0"/>
          </a:xfrm>
          <a:prstGeom prst="line">
            <a:avLst/>
          </a:prstGeom>
          <a:noFill/>
          <a:ln w="15875">
            <a:solidFill>
              <a:srgbClr val="1C3A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5848" y="3794760"/>
            <a:ext cx="3919873" cy="1074420"/>
          </a:xfrm>
          <a:prstGeom prst="line">
            <a:avLst/>
          </a:prstGeom>
          <a:noFill/>
          <a:ln w="15875">
            <a:solidFill>
              <a:srgbClr val="1C3A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5848" y="3794760"/>
            <a:ext cx="2263140" cy="1860950"/>
          </a:xfrm>
          <a:prstGeom prst="line">
            <a:avLst/>
          </a:prstGeom>
          <a:noFill/>
          <a:ln w="15875">
            <a:solidFill>
              <a:srgbClr val="1C3A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5848" y="3794760"/>
            <a:ext cx="0" cy="2148840"/>
          </a:xfrm>
          <a:prstGeom prst="line">
            <a:avLst/>
          </a:prstGeom>
          <a:noFill/>
          <a:ln w="15875">
            <a:solidFill>
              <a:srgbClr val="1C3A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5848" y="3794760"/>
            <a:ext cx="-2263140" cy="1860950"/>
          </a:xfrm>
          <a:prstGeom prst="line">
            <a:avLst/>
          </a:prstGeom>
          <a:noFill/>
          <a:ln w="15875">
            <a:solidFill>
              <a:srgbClr val="1C3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5848" y="3794760"/>
            <a:ext cx="-3919873" cy="1074420"/>
          </a:xfrm>
          <a:prstGeom prst="line">
            <a:avLst/>
          </a:prstGeom>
          <a:noFill/>
          <a:ln w="15875">
            <a:solidFill>
              <a:srgbClr val="1C3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95848" y="3794760"/>
            <a:ext cx="-4526280" cy="0"/>
          </a:xfrm>
          <a:prstGeom prst="line">
            <a:avLst/>
          </a:prstGeom>
          <a:noFill/>
          <a:ln w="15875">
            <a:solidFill>
              <a:srgbClr val="1C3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5848" y="3794760"/>
            <a:ext cx="-3919873" cy="-1074420"/>
          </a:xfrm>
          <a:prstGeom prst="line">
            <a:avLst/>
          </a:prstGeom>
          <a:noFill/>
          <a:ln w="15875">
            <a:solidFill>
              <a:srgbClr val="1C3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5848" y="3794760"/>
            <a:ext cx="-2263140" cy="-1860950"/>
          </a:xfrm>
          <a:prstGeom prst="line">
            <a:avLst/>
          </a:prstGeom>
          <a:noFill/>
          <a:ln w="15875">
            <a:solidFill>
              <a:srgbClr val="1C3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27168" y="2926080"/>
            <a:ext cx="1737360" cy="1737360"/>
          </a:xfrm>
          <a:prstGeom prst="ellipse">
            <a:avLst/>
          </a:prstGeom>
          <a:solidFill>
            <a:srgbClr val="0E2143"/>
          </a:solidFill>
          <a:ln w="25400">
            <a:solidFill>
              <a:srgbClr val="22D3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27168" y="34107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ION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227168" y="3977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12384" y="1362456"/>
            <a:ext cx="566928" cy="566928"/>
          </a:xfrm>
          <a:prstGeom prst="ellipse">
            <a:avLst/>
          </a:prstGeom>
          <a:solidFill>
            <a:srgbClr val="0E2143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9785" y="1509857"/>
            <a:ext cx="272125" cy="272125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461608" y="14447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Elasticsearch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461608" y="16642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 &amp; search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075524" y="1650346"/>
            <a:ext cx="566928" cy="566928"/>
          </a:xfrm>
          <a:prstGeom prst="ellipse">
            <a:avLst/>
          </a:prstGeom>
          <a:solidFill>
            <a:srgbClr val="0E2143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925" y="1797747"/>
            <a:ext cx="272125" cy="272125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724748" y="173264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Kibana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8724748" y="195209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sync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9732257" y="2436876"/>
            <a:ext cx="566928" cy="566928"/>
          </a:xfrm>
          <a:prstGeom prst="ellipse">
            <a:avLst/>
          </a:prstGeom>
          <a:solidFill>
            <a:srgbClr val="0E2143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9658" y="2584277"/>
            <a:ext cx="272125" cy="272125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0381481" y="25191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TIDE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10381481" y="27386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 analytics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10338664" y="3511296"/>
            <a:ext cx="566928" cy="566928"/>
          </a:xfrm>
          <a:prstGeom prst="ellipse">
            <a:avLst/>
          </a:prstGeom>
          <a:solidFill>
            <a:srgbClr val="0E2143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6065" y="3658697"/>
            <a:ext cx="272125" cy="272125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0987888" y="3593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OpenCTI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10987888" y="38130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9732257" y="4585716"/>
            <a:ext cx="566928" cy="566928"/>
          </a:xfrm>
          <a:prstGeom prst="ellipse">
            <a:avLst/>
          </a:prstGeom>
          <a:solidFill>
            <a:srgbClr val="0E2143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9658" y="4733117"/>
            <a:ext cx="272125" cy="272125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0381481" y="46680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Arkime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10381481" y="48874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PCAP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8075524" y="5372246"/>
            <a:ext cx="566928" cy="566928"/>
          </a:xfrm>
          <a:prstGeom prst="ellipse">
            <a:avLst/>
          </a:prstGeom>
          <a:solidFill>
            <a:srgbClr val="0E2143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2925" y="5519647"/>
            <a:ext cx="272125" cy="272125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724748" y="545454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Keycloak</a:t>
            </a:r>
            <a:endParaRPr lang="en-US" sz="1150" dirty="0"/>
          </a:p>
        </p:txBody>
      </p:sp>
      <p:sp>
        <p:nvSpPr>
          <p:cNvPr id="45" name="Text 37"/>
          <p:cNvSpPr/>
          <p:nvPr/>
        </p:nvSpPr>
        <p:spPr>
          <a:xfrm>
            <a:off x="8724748" y="567399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OIDC SSO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5812384" y="5660136"/>
            <a:ext cx="566928" cy="566928"/>
          </a:xfrm>
          <a:prstGeom prst="ellipse">
            <a:avLst/>
          </a:prstGeom>
          <a:solidFill>
            <a:srgbClr val="0E2143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9785" y="5807537"/>
            <a:ext cx="272125" cy="272125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6461608" y="57424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Ollama</a:t>
            </a:r>
            <a:endParaRPr lang="en-US" sz="1150" dirty="0"/>
          </a:p>
        </p:txBody>
      </p:sp>
      <p:sp>
        <p:nvSpPr>
          <p:cNvPr id="49" name="Text 40"/>
          <p:cNvSpPr/>
          <p:nvPr/>
        </p:nvSpPr>
        <p:spPr>
          <a:xfrm>
            <a:off x="6461608" y="59618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LLM</a:t>
            </a:r>
            <a:endParaRPr lang="en-US" sz="900" dirty="0"/>
          </a:p>
        </p:txBody>
      </p:sp>
      <p:sp>
        <p:nvSpPr>
          <p:cNvPr id="50" name="Shape 41"/>
          <p:cNvSpPr/>
          <p:nvPr/>
        </p:nvSpPr>
        <p:spPr>
          <a:xfrm>
            <a:off x="3549244" y="5372246"/>
            <a:ext cx="566928" cy="566928"/>
          </a:xfrm>
          <a:prstGeom prst="ellipse">
            <a:avLst/>
          </a:prstGeom>
          <a:solidFill>
            <a:srgbClr val="0E2143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6645" y="5519647"/>
            <a:ext cx="272125" cy="272125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1638148" y="545454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GitLab</a:t>
            </a:r>
            <a:endParaRPr lang="en-US" sz="1150" dirty="0"/>
          </a:p>
        </p:txBody>
      </p:sp>
      <p:sp>
        <p:nvSpPr>
          <p:cNvPr id="53" name="Text 43"/>
          <p:cNvSpPr/>
          <p:nvPr/>
        </p:nvSpPr>
        <p:spPr>
          <a:xfrm>
            <a:off x="1638148" y="567399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tracking</a:t>
            </a:r>
            <a:endParaRPr lang="en-US" sz="900" dirty="0"/>
          </a:p>
        </p:txBody>
      </p:sp>
      <p:sp>
        <p:nvSpPr>
          <p:cNvPr id="54" name="Shape 44"/>
          <p:cNvSpPr/>
          <p:nvPr/>
        </p:nvSpPr>
        <p:spPr>
          <a:xfrm>
            <a:off x="1892510" y="4585716"/>
            <a:ext cx="566928" cy="566928"/>
          </a:xfrm>
          <a:prstGeom prst="ellipse">
            <a:avLst/>
          </a:prstGeom>
          <a:solidFill>
            <a:srgbClr val="0E2143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9911" y="4733117"/>
            <a:ext cx="272125" cy="272125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-18586" y="46680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VirusTotal</a:t>
            </a:r>
            <a:endParaRPr lang="en-US" sz="1150" dirty="0"/>
          </a:p>
        </p:txBody>
      </p:sp>
      <p:sp>
        <p:nvSpPr>
          <p:cNvPr id="57" name="Text 46"/>
          <p:cNvSpPr/>
          <p:nvPr/>
        </p:nvSpPr>
        <p:spPr>
          <a:xfrm>
            <a:off x="-18586" y="48874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Enrichment</a:t>
            </a:r>
            <a:endParaRPr lang="en-US" sz="900" dirty="0"/>
          </a:p>
        </p:txBody>
      </p:sp>
      <p:sp>
        <p:nvSpPr>
          <p:cNvPr id="58" name="Shape 47"/>
          <p:cNvSpPr/>
          <p:nvPr/>
        </p:nvSpPr>
        <p:spPr>
          <a:xfrm>
            <a:off x="1286104" y="3511296"/>
            <a:ext cx="566928" cy="566928"/>
          </a:xfrm>
          <a:prstGeom prst="ellipse">
            <a:avLst/>
          </a:prstGeom>
          <a:solidFill>
            <a:srgbClr val="0E2143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33505" y="3658697"/>
            <a:ext cx="272125" cy="272125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-624992" y="3593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Shodan</a:t>
            </a:r>
            <a:endParaRPr lang="en-US" sz="1150" dirty="0"/>
          </a:p>
        </p:txBody>
      </p:sp>
      <p:sp>
        <p:nvSpPr>
          <p:cNvPr id="61" name="Text 49"/>
          <p:cNvSpPr/>
          <p:nvPr/>
        </p:nvSpPr>
        <p:spPr>
          <a:xfrm>
            <a:off x="-624992" y="38130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Enrichment</a:t>
            </a:r>
            <a:endParaRPr lang="en-US" sz="900" dirty="0"/>
          </a:p>
        </p:txBody>
      </p:sp>
      <p:sp>
        <p:nvSpPr>
          <p:cNvPr id="62" name="Shape 50"/>
          <p:cNvSpPr/>
          <p:nvPr/>
        </p:nvSpPr>
        <p:spPr>
          <a:xfrm>
            <a:off x="1892510" y="2436876"/>
            <a:ext cx="566928" cy="566928"/>
          </a:xfrm>
          <a:prstGeom prst="ellipse">
            <a:avLst/>
          </a:prstGeom>
          <a:solidFill>
            <a:srgbClr val="0E2143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6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39911" y="2584277"/>
            <a:ext cx="272125" cy="272125"/>
          </a:xfrm>
          <a:prstGeom prst="rect">
            <a:avLst/>
          </a:prstGeom>
        </p:spPr>
      </p:pic>
      <p:sp>
        <p:nvSpPr>
          <p:cNvPr id="64" name="Text 51"/>
          <p:cNvSpPr/>
          <p:nvPr/>
        </p:nvSpPr>
        <p:spPr>
          <a:xfrm>
            <a:off x="-18586" y="25191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GreyNoise</a:t>
            </a:r>
            <a:endParaRPr lang="en-US" sz="1150" dirty="0"/>
          </a:p>
        </p:txBody>
      </p:sp>
      <p:sp>
        <p:nvSpPr>
          <p:cNvPr id="65" name="Text 52"/>
          <p:cNvSpPr/>
          <p:nvPr/>
        </p:nvSpPr>
        <p:spPr>
          <a:xfrm>
            <a:off x="-18586" y="27386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Enrichment</a:t>
            </a:r>
            <a:endParaRPr lang="en-US" sz="900" dirty="0"/>
          </a:p>
        </p:txBody>
      </p:sp>
      <p:sp>
        <p:nvSpPr>
          <p:cNvPr id="66" name="Shape 53"/>
          <p:cNvSpPr/>
          <p:nvPr/>
        </p:nvSpPr>
        <p:spPr>
          <a:xfrm>
            <a:off x="3549244" y="1650346"/>
            <a:ext cx="566928" cy="566928"/>
          </a:xfrm>
          <a:prstGeom prst="ellipse">
            <a:avLst/>
          </a:prstGeom>
          <a:solidFill>
            <a:srgbClr val="0E2143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6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96645" y="1797747"/>
            <a:ext cx="272125" cy="272125"/>
          </a:xfrm>
          <a:prstGeom prst="rect">
            <a:avLst/>
          </a:prstGeom>
        </p:spPr>
      </p:pic>
      <p:sp>
        <p:nvSpPr>
          <p:cNvPr id="68" name="Text 54"/>
          <p:cNvSpPr/>
          <p:nvPr/>
        </p:nvSpPr>
        <p:spPr>
          <a:xfrm>
            <a:off x="1638148" y="173264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DFIR-IRIS</a:t>
            </a:r>
            <a:endParaRPr lang="en-US" sz="1150" dirty="0"/>
          </a:p>
        </p:txBody>
      </p:sp>
      <p:sp>
        <p:nvSpPr>
          <p:cNvPr id="69" name="Text 55"/>
          <p:cNvSpPr/>
          <p:nvPr/>
        </p:nvSpPr>
        <p:spPr>
          <a:xfrm>
            <a:off x="1638148" y="195209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 casework</a:t>
            </a:r>
            <a:endParaRPr lang="en-US" sz="900" dirty="0"/>
          </a:p>
        </p:txBody>
      </p:sp>
      <p:sp>
        <p:nvSpPr>
          <p:cNvPr id="70" name="Text 56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algn="l" indent="0" marL="0">
              <a:buNone/>
            </a:pPr>
            <a:r>
              <a:rPr lang="en-US" sz="9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Intelligent Operating Network</a:t>
            </a:r>
            <a:endParaRPr lang="en-US" sz="900" dirty="0"/>
          </a:p>
        </p:txBody>
      </p:sp>
      <p:sp>
        <p:nvSpPr>
          <p:cNvPr id="71" name="Text 57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  · 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720547" y="420624"/>
            <a:ext cx="76810" cy="7681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698602" y="574243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ANALYST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Meet Bob — a SOC analyst that never sleeps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1463040" cy="146304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949" y="2406701"/>
            <a:ext cx="672998" cy="6729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Bob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84048" y="3931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user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331720" y="2011680"/>
            <a:ext cx="446364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06040" y="2304288"/>
            <a:ext cx="640080" cy="64008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862" y="2477110"/>
            <a:ext cx="294437" cy="2944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2322576"/>
            <a:ext cx="3274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Auto-investigates alerts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2606040" y="3035808"/>
            <a:ext cx="39150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Pulls a verdict + reasoning for queued alerts via a per-rule prompt, KB grounding and similar past cases.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161124" y="2011680"/>
            <a:ext cx="446364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435444" y="2304288"/>
            <a:ext cx="640080" cy="64008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265" y="2477110"/>
            <a:ext cx="294437" cy="29443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12684" y="2322576"/>
            <a:ext cx="3274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Suggests triage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7435444" y="3035808"/>
            <a:ext cx="39150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Recommends FP/TP from historical closure patterns before an analyst even opens the alert.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2331720" y="4069080"/>
            <a:ext cx="446364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606040" y="4361688"/>
            <a:ext cx="640080" cy="64008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8862" y="4534510"/>
            <a:ext cx="294437" cy="29443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383280" y="4379976"/>
            <a:ext cx="3274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Writes briefings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2606040" y="5093208"/>
            <a:ext cx="39150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threat &amp; ops briefings, shift handovers, and case summaries — drafted, analyst-approved.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7161124" y="4069080"/>
            <a:ext cx="446364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435444" y="4361688"/>
            <a:ext cx="640080" cy="64008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8265" y="4534510"/>
            <a:ext cx="294437" cy="29443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212684" y="4379976"/>
            <a:ext cx="3274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Stays inside the wire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7435444" y="5093208"/>
            <a:ext cx="39150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on a local Ollama model; no alert content ever leaves the air-gapped network.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algn="l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Intelligent Operating Network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  ·  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720547" y="420624"/>
            <a:ext cx="76810" cy="7681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698602" y="574243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Outcomes for the SOC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9536" y="2276856"/>
            <a:ext cx="713232" cy="713232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109" y="2469429"/>
            <a:ext cx="328087" cy="3280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" y="3063240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Faster MTTR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9536" y="3410712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Auto-investigation and one-pane workflow cut the time from alert to verdict.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74794" y="1965960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7402" y="2276856"/>
            <a:ext cx="713232" cy="713232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975" y="2469429"/>
            <a:ext cx="328087" cy="32808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7402" y="3063240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Consistent verdicts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667402" y="3410712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alert gets the same RAG-grounded analysis, regardless of who's on shift.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82661" y="1965960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75269" y="2276856"/>
            <a:ext cx="713232" cy="713232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841" y="2469429"/>
            <a:ext cx="328087" cy="32808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75269" y="3063240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Works air-gapped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75269" y="3410712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capability — AI included — with zero external dependencies.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66928" y="4023360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59536" y="4334256"/>
            <a:ext cx="713232" cy="713232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109" y="4526829"/>
            <a:ext cx="328087" cy="32808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59536" y="5120640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Learns from analysts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859536" y="5468112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Agreed closures become exemplars; quality compounds over time.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374794" y="4023360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667402" y="4334256"/>
            <a:ext cx="713232" cy="713232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9975" y="4526829"/>
            <a:ext cx="328087" cy="32808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667402" y="5120640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Secure by design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4667402" y="5468112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20-principle posture; tamper-evident ledgers; 0 open findings.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182661" y="4023360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475269" y="4334256"/>
            <a:ext cx="713232" cy="713232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841" y="4526829"/>
            <a:ext cx="328087" cy="328087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475269" y="5120640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tool-hopping</a:t>
            </a:r>
            <a:endParaRPr lang="en-US" sz="1600" dirty="0"/>
          </a:p>
        </p:txBody>
      </p:sp>
      <p:sp>
        <p:nvSpPr>
          <p:cNvPr id="36" name="Text 28"/>
          <p:cNvSpPr/>
          <p:nvPr/>
        </p:nvSpPr>
        <p:spPr>
          <a:xfrm>
            <a:off x="8475269" y="5468112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Detection, intel, forensics and identity unified behind one portal.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algn="l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Intelligent Operating Network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  ·  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1C3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92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Under the Hood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4114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Architecture, integrations and the AI retrieval engine.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362895" y="521208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10567721" y="5138928"/>
            <a:ext cx="102413" cy="102413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Shape 6"/>
          <p:cNvSpPr/>
          <p:nvPr/>
        </p:nvSpPr>
        <p:spPr>
          <a:xfrm>
            <a:off x="10538460" y="5343754"/>
            <a:ext cx="73152" cy="7315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algn="l" indent="0" marL="0">
              <a:buNone/>
            </a:pPr>
            <a:r>
              <a:rPr lang="en-US" sz="9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Intelligent Operating Network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  ·  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720547" y="420624"/>
            <a:ext cx="76810" cy="7681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698602" y="574243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HOOD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11057839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1993392"/>
            <a:ext cx="457200" cy="45720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2116836"/>
            <a:ext cx="210312" cy="2103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9888" y="18745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 </a:t>
            </a:r>
            <a:pPr indent="0" marL="0">
              <a:buNone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UI · server-rendered HTML · vanilla JS (no SPA)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120" y="2615184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66928" y="2926080"/>
            <a:ext cx="11057839" cy="1051560"/>
          </a:xfrm>
          <a:prstGeom prst="roundRect">
            <a:avLst>
              <a:gd name="adj" fmla="val 6957"/>
            </a:avLst>
          </a:prstGeom>
          <a:solidFill>
            <a:srgbClr val="0E2143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41248" y="3154680"/>
            <a:ext cx="566928" cy="566928"/>
          </a:xfrm>
          <a:prstGeom prst="ellipse">
            <a:avLst/>
          </a:prstGeom>
          <a:solidFill>
            <a:srgbClr val="13294F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19" y="3307751"/>
            <a:ext cx="260787" cy="26078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27048" y="3035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ION Application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527048" y="34015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· Jinja2 · SQLAlchemy — 4 uvicorn workers, 1 background leader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41248" y="3611880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13294F"/>
          </a:solidFill>
          <a:ln/>
        </p:spPr>
      </p:sp>
      <p:sp>
        <p:nvSpPr>
          <p:cNvPr id="18" name="Text 13"/>
          <p:cNvSpPr/>
          <p:nvPr/>
        </p:nvSpPr>
        <p:spPr>
          <a:xfrm>
            <a:off x="841248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RBAC + OIDC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172968" y="3611880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13294F"/>
          </a:solidFill>
          <a:ln/>
        </p:spPr>
      </p:sp>
      <p:sp>
        <p:nvSpPr>
          <p:cNvPr id="20" name="Text 15"/>
          <p:cNvSpPr/>
          <p:nvPr/>
        </p:nvSpPr>
        <p:spPr>
          <a:xfrm>
            <a:off x="3172968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60+ API routers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504688" y="3611880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13294F"/>
          </a:solidFill>
          <a:ln/>
        </p:spPr>
      </p:sp>
      <p:sp>
        <p:nvSpPr>
          <p:cNvPr id="22" name="Text 17"/>
          <p:cNvSpPr/>
          <p:nvPr/>
        </p:nvSpPr>
        <p:spPr>
          <a:xfrm>
            <a:off x="5504688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 RAG engine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7836408" y="3611880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13294F"/>
          </a:solidFill>
          <a:ln/>
        </p:spPr>
      </p:sp>
      <p:sp>
        <p:nvSpPr>
          <p:cNvPr id="24" name="Text 19"/>
          <p:cNvSpPr/>
          <p:nvPr/>
        </p:nvSpPr>
        <p:spPr>
          <a:xfrm>
            <a:off x="7836408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Advisory-lock loops</a:t>
            </a:r>
            <a:endParaRPr lang="en-US" sz="9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120" y="4041648"/>
            <a:ext cx="219456" cy="219456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66928" y="4343400"/>
            <a:ext cx="252443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481671" y="4526280"/>
            <a:ext cx="694944" cy="694944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9306" y="4713915"/>
            <a:ext cx="319674" cy="31967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58368" y="5285232"/>
            <a:ext cx="23415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PostgreSQL 16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04088" y="5596128"/>
            <a:ext cx="2250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store + pgvector (HNSW)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3411398" y="4343400"/>
            <a:ext cx="252443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326141" y="4526280"/>
            <a:ext cx="694944" cy="694944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3776" y="4713915"/>
            <a:ext cx="319674" cy="31967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502838" y="5285232"/>
            <a:ext cx="23415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Detection &amp; Intel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3548558" y="5596128"/>
            <a:ext cx="2250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Elasticsearch · Kibana · TIDE · OpenCTI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255868" y="4343400"/>
            <a:ext cx="252443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7170611" y="4526280"/>
            <a:ext cx="694944" cy="694944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8245" y="4713915"/>
            <a:ext cx="319674" cy="31967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347308" y="5285232"/>
            <a:ext cx="23415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Forensics &amp; Identity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6393028" y="5596128"/>
            <a:ext cx="2250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Arkime · Keycloak · GitLab · DFIR-IRIS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9100337" y="4343400"/>
            <a:ext cx="252443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10015080" y="4526280"/>
            <a:ext cx="694944" cy="694944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2715" y="4713915"/>
            <a:ext cx="319674" cy="319674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191777" y="5285232"/>
            <a:ext cx="23415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Local AI</a:t>
            </a:r>
            <a:endParaRPr lang="en-US" sz="1300" dirty="0"/>
          </a:p>
        </p:txBody>
      </p:sp>
      <p:sp>
        <p:nvSpPr>
          <p:cNvPr id="45" name="Text 35"/>
          <p:cNvSpPr/>
          <p:nvPr/>
        </p:nvSpPr>
        <p:spPr>
          <a:xfrm>
            <a:off x="9237497" y="5596128"/>
            <a:ext cx="2250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Ollama (nomic-embed-text + chat)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algn="l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Intelligent Operating Network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  ·  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720547" y="420624"/>
            <a:ext cx="76810" cy="7681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698602" y="574243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INTEGRATIONS · DETECTION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Find and triage threats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3411626" cy="3703320"/>
          </a:xfrm>
          <a:prstGeom prst="roundRect">
            <a:avLst>
              <a:gd name="adj" fmla="val 2412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965960"/>
            <a:ext cx="3411626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" y="2286000"/>
            <a:ext cx="914400" cy="91440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532888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86968" y="3337560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Elasticsearch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86968" y="3675888"/>
            <a:ext cx="2771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alerts · search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32688" y="4069080"/>
            <a:ext cx="272582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Poll security alerts by index pattern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ECS-normalised triage state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 / hunting queries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90034" y="1965960"/>
            <a:ext cx="3411626" cy="3703320"/>
          </a:xfrm>
          <a:prstGeom prst="roundRect">
            <a:avLst>
              <a:gd name="adj" fmla="val 2412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90034" y="1965960"/>
            <a:ext cx="3411626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6" name="Shape 13"/>
          <p:cNvSpPr/>
          <p:nvPr/>
        </p:nvSpPr>
        <p:spPr>
          <a:xfrm>
            <a:off x="4710074" y="2286000"/>
            <a:ext cx="914400" cy="91440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962" y="2532888"/>
            <a:ext cx="420624" cy="4206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710074" y="3337560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Kibana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710074" y="3675888"/>
            <a:ext cx="2771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bi-directional cases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755794" y="4069080"/>
            <a:ext cx="272582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Two-way case status &amp; assignee sync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Space-aware detection scoping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Comments mirrored both ways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213141" y="1965960"/>
            <a:ext cx="3411626" cy="3703320"/>
          </a:xfrm>
          <a:prstGeom prst="roundRect">
            <a:avLst>
              <a:gd name="adj" fmla="val 2412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213141" y="1965960"/>
            <a:ext cx="3411626" cy="109728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23" name="Shape 19"/>
          <p:cNvSpPr/>
          <p:nvPr/>
        </p:nvSpPr>
        <p:spPr>
          <a:xfrm>
            <a:off x="8533181" y="2286000"/>
            <a:ext cx="914400" cy="91440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0069" y="2532888"/>
            <a:ext cx="420624" cy="42062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533181" y="3337560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TIDE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8533181" y="3675888"/>
            <a:ext cx="2771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7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 analytics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8578901" y="4069080"/>
            <a:ext cx="272582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analytics &amp; quality scores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MITRE ATT&amp;CK coverage &amp; gaps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DuckDB-backed, API-keyed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566928" y="585216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329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Elasticsearch feeds alerts in; Kibana keeps cases in lock-step; TIDE measures detection coverage.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algn="l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Intelligent Operating Network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  ·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720547" y="420624"/>
            <a:ext cx="76810" cy="7681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698602" y="574243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INTEGRATIONS · INTEL &amp; ENRICHMENT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Add context to every indicator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3411626" cy="3703320"/>
          </a:xfrm>
          <a:prstGeom prst="roundRect">
            <a:avLst>
              <a:gd name="adj" fmla="val 2412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965960"/>
            <a:ext cx="3411626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" y="2286000"/>
            <a:ext cx="914400" cy="91440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532888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86968" y="3337560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OpenCTI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86968" y="3675888"/>
            <a:ext cx="2771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 intelligence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32688" y="4069080"/>
            <a:ext cx="272582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Actors, campaigns, IOCs, reports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GraphQL API client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TTP &amp; report drill-down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90034" y="1965960"/>
            <a:ext cx="3411626" cy="3703320"/>
          </a:xfrm>
          <a:prstGeom prst="roundRect">
            <a:avLst>
              <a:gd name="adj" fmla="val 2412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90034" y="1965960"/>
            <a:ext cx="3411626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6" name="Shape 13"/>
          <p:cNvSpPr/>
          <p:nvPr/>
        </p:nvSpPr>
        <p:spPr>
          <a:xfrm>
            <a:off x="4710074" y="2286000"/>
            <a:ext cx="914400" cy="91440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962" y="2532888"/>
            <a:ext cx="420624" cy="4206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710074" y="3337560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Enrichment providers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710074" y="3675888"/>
            <a:ext cx="2771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 · Shodan · GreyNoise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755794" y="4069080"/>
            <a:ext cx="272582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Reputation &amp; exposure lookups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AbuseIPDB confidence scoring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Per-observable orchestration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213141" y="1965960"/>
            <a:ext cx="3411626" cy="3703320"/>
          </a:xfrm>
          <a:prstGeom prst="roundRect">
            <a:avLst>
              <a:gd name="adj" fmla="val 2412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213141" y="1965960"/>
            <a:ext cx="3411626" cy="109728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23" name="Shape 19"/>
          <p:cNvSpPr/>
          <p:nvPr/>
        </p:nvSpPr>
        <p:spPr>
          <a:xfrm>
            <a:off x="8533181" y="2286000"/>
            <a:ext cx="914400" cy="91440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0069" y="2532888"/>
            <a:ext cx="420624" cy="42062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533181" y="3337560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Observables &amp; timelines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8533181" y="3675888"/>
            <a:ext cx="2771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7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IOC lifecycle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8578901" y="4069080"/>
            <a:ext cx="272582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TLP/PAP-marked indicators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Cross-source entity timelines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Attack-story correlation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566928" y="585216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329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Air-gapped note: enrichment providers are integrated where reachable; ION never assumes a live internet path.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algn="l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Intelligent Operating Network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  · 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720547" y="420624"/>
            <a:ext cx="76810" cy="7681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698602" y="574243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INTEGRATIONS · FORENSICS &amp; IDENTITY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Investigate deeper, sign in once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3411626" cy="3703320"/>
          </a:xfrm>
          <a:prstGeom prst="roundRect">
            <a:avLst>
              <a:gd name="adj" fmla="val 2412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965960"/>
            <a:ext cx="3411626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" y="2286000"/>
            <a:ext cx="914400" cy="91440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532888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86968" y="3337560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Arkime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86968" y="3675888"/>
            <a:ext cx="2771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packet capture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32688" y="4069080"/>
            <a:ext cx="272582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PCAP retrieval by community ID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client_credentials auth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Traffic analytics dashboards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90034" y="1965960"/>
            <a:ext cx="3411626" cy="3703320"/>
          </a:xfrm>
          <a:prstGeom prst="roundRect">
            <a:avLst>
              <a:gd name="adj" fmla="val 2412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90034" y="1965960"/>
            <a:ext cx="3411626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6" name="Shape 13"/>
          <p:cNvSpPr/>
          <p:nvPr/>
        </p:nvSpPr>
        <p:spPr>
          <a:xfrm>
            <a:off x="4710074" y="2286000"/>
            <a:ext cx="914400" cy="91440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962" y="2532888"/>
            <a:ext cx="420624" cy="4206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710074" y="3337560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Keycloak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710074" y="3675888"/>
            <a:ext cx="2771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 &amp; SSO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755794" y="4069080"/>
            <a:ext cx="272582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OIDC single sign-on (RS256)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federation &amp; auto-provision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Brokers Arkime OAuth2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213141" y="1965960"/>
            <a:ext cx="3411626" cy="3703320"/>
          </a:xfrm>
          <a:prstGeom prst="roundRect">
            <a:avLst>
              <a:gd name="adj" fmla="val 2412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213141" y="1965960"/>
            <a:ext cx="3411626" cy="109728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23" name="Shape 19"/>
          <p:cNvSpPr/>
          <p:nvPr/>
        </p:nvSpPr>
        <p:spPr>
          <a:xfrm>
            <a:off x="8533181" y="2286000"/>
            <a:ext cx="914400" cy="91440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0069" y="2532888"/>
            <a:ext cx="420624" cy="42062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533181" y="3337560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GitLab · DFIR-IRIS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8533181" y="3675888"/>
            <a:ext cx="2771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7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&amp; IR casework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8578901" y="4069080"/>
            <a:ext cx="272582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GitLab change tracking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DFIR-IRIS IR case handoff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Forensic chain-of-custody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algn="l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Intelligent Operating Network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  · 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720547" y="420624"/>
            <a:ext cx="76810" cy="7681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698602" y="574243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INTERNALS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Bob's 6-layer RAG prompt stack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70408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993392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2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52728" y="187452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security persona   </a:t>
            </a:r>
            <a:pPr indent="0" marL="0"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ION's analyst system prompt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64808" y="20391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2596896"/>
            <a:ext cx="70408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715768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2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52728" y="2596896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Per-rule investigation guide   </a:t>
            </a:r>
            <a:pPr indent="0" marL="0"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AlertPromptTemplate — 5-tier matcher, MITRE-scoped checklist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64808" y="27614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" y="3319272"/>
            <a:ext cx="70408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438144"/>
            <a:ext cx="365760" cy="365760"/>
          </a:xfrm>
          <a:prstGeom prst="ellipse">
            <a:avLst/>
          </a:prstGeom>
          <a:solidFill>
            <a:srgbClr val="8AB4F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2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52728" y="3319272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KB RAG context   </a:t>
            </a:r>
            <a:pPr indent="0" marL="0"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Top-3 Knowledge-Base articles by cosine &gt;= 0.65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64808" y="34838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" y="4041648"/>
            <a:ext cx="70408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4160520"/>
            <a:ext cx="365760" cy="36576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2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52728" y="4041648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exemplars   </a:t>
            </a:r>
            <a:pPr indent="0" marL="0"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 analyst-agreed closed cases (few-shot)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64808" y="4206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7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4764024"/>
            <a:ext cx="70408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4882896"/>
            <a:ext cx="365760" cy="365760"/>
          </a:xfrm>
          <a:prstGeom prst="ellipse">
            <a:avLst/>
          </a:prstGeom>
          <a:solidFill>
            <a:srgbClr val="C9A0F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882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2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52728" y="4764024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Elastic Agent Skills   </a:t>
            </a:r>
            <a:pPr indent="0" marL="0"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published skill bundles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64808" y="49286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5486400"/>
            <a:ext cx="70408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1520" y="5605272"/>
            <a:ext cx="365760" cy="365760"/>
          </a:xfrm>
          <a:prstGeom prst="ellipse">
            <a:avLst/>
          </a:prstGeom>
          <a:solidFill>
            <a:srgbClr val="F58FB0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5605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2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52728" y="548640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contract   </a:t>
            </a:r>
            <a:pPr indent="0" marL="0"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CaseClosureReason JSON — never budget-dropped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64808" y="56509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pinned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909560" y="1874520"/>
            <a:ext cx="3715207" cy="4526280"/>
          </a:xfrm>
          <a:prstGeom prst="roundRect">
            <a:avLst>
              <a:gd name="adj" fmla="val 2215"/>
            </a:avLst>
          </a:prstGeom>
          <a:solidFill>
            <a:srgbClr val="0E2143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229600" y="2103120"/>
            <a:ext cx="30751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Token-budget aware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29600" y="2514600"/>
            <a:ext cx="307512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prompt is capped at ~3,800 tokens for the 8K-context local model. RAG layers are admitted by priority and dropped lowest-first when space runs out — but the output contract is always kept, so Bob never loses its JSON envelope.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229600" y="4434840"/>
            <a:ext cx="3075127" cy="0"/>
          </a:xfrm>
          <a:prstGeom prst="line">
            <a:avLst/>
          </a:prstGeom>
          <a:noFill/>
          <a:ln w="12700">
            <a:solidFill>
              <a:srgbClr val="1329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0" y="4572000"/>
            <a:ext cx="30751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Grounded, not hallucinated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29600" y="4983480"/>
            <a:ext cx="30751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verdict is anchored to ION's own KB, the matching rule guide, and real prior cases — so the reasoning cites the estate's knowledge, not the model's guesswork.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algn="l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Intelligent Operating Network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  · 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720547" y="420624"/>
            <a:ext cx="76810" cy="7681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698602" y="574243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INTERNALS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Vector retrieval, measured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713232" cy="713232"/>
          </a:xfrm>
          <a:prstGeom prst="ellipse">
            <a:avLst/>
          </a:prstGeom>
          <a:solidFill>
            <a:srgbClr val="0E2143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501" y="2112813"/>
            <a:ext cx="328087" cy="3280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1901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pgvector + HNSW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81328" y="226771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&amp; KB vectors indexed for fast cosine similarity in Postgres.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3291840"/>
            <a:ext cx="713232" cy="713232"/>
          </a:xfrm>
          <a:prstGeom prst="ellipse">
            <a:avLst/>
          </a:prstGeom>
          <a:solidFill>
            <a:srgbClr val="0E2143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01" y="3484413"/>
            <a:ext cx="328087" cy="3280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81328" y="32735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nomic-embed-text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481328" y="363931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768-dim local embeddings via Ollama — fully air-gapped.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66928" y="4663440"/>
            <a:ext cx="713232" cy="713232"/>
          </a:xfrm>
          <a:prstGeom prst="ellipse">
            <a:avLst/>
          </a:prstGeom>
          <a:solidFill>
            <a:srgbClr val="0E2143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501" y="4856013"/>
            <a:ext cx="328087" cy="3280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81328" y="4645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Task prefixes (v0.38.0)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81328" y="501091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search_query: / search_document: — the model's asymmetric retrieval mode.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583680" y="1828800"/>
            <a:ext cx="5041087" cy="3657600"/>
          </a:xfrm>
          <a:prstGeom prst="roundRect">
            <a:avLst>
              <a:gd name="adj" fmla="val 2000"/>
            </a:avLst>
          </a:prstGeom>
          <a:solidFill>
            <a:srgbClr val="0E2143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903720" y="2011680"/>
            <a:ext cx="44010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v0.38.0 prefixes vs none — ION's real KB</a:t>
            </a:r>
            <a:endParaRPr lang="en-US" sz="14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766560" y="2468880"/>
          <a:ext cx="4675327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2" name="Text 16"/>
          <p:cNvSpPr/>
          <p:nvPr/>
        </p:nvSpPr>
        <p:spPr>
          <a:xfrm>
            <a:off x="6903720" y="4983480"/>
            <a:ext cx="44010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+57% nDCG · +58% MAP — measured on 80 MITRE-tagged KB docs, 43 queries.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algn="l" indent="0" marL="0">
              <a:buNone/>
            </a:pPr>
            <a:r>
              <a:rPr lang="en-US" sz="9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Intelligent Operating Network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  · 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1C3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92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Trust &amp; Operations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4114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model, assurance posture, and running unattended.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362895" y="521208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10567721" y="5138928"/>
            <a:ext cx="102413" cy="102413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Shape 6"/>
          <p:cNvSpPr/>
          <p:nvPr/>
        </p:nvSpPr>
        <p:spPr>
          <a:xfrm>
            <a:off x="10538460" y="5343754"/>
            <a:ext cx="73152" cy="7315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algn="l" indent="0" marL="0">
              <a:buNone/>
            </a:pPr>
            <a:r>
              <a:rPr lang="en-US" sz="9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Intelligent Operating Network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  · 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720547" y="420624"/>
            <a:ext cx="76810" cy="7681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698602" y="574243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MODEL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Role-based access, scoped by design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built-in roles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2331720"/>
            <a:ext cx="55778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2331720"/>
            <a:ext cx="109728" cy="7132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423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Analyst tier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6968" y="27249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 · senior · principal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172968"/>
            <a:ext cx="55778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3172968"/>
            <a:ext cx="109728" cy="71323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32644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Engineering tier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86968" y="3566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 · senior · platform engineer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014216"/>
            <a:ext cx="55778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4014216"/>
            <a:ext cx="109728" cy="713232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41056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Specialist &amp; mgmt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6968" y="44074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forensic · lead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855464"/>
            <a:ext cx="55778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4855464"/>
            <a:ext cx="109728" cy="713232"/>
          </a:xfrm>
          <a:prstGeom prst="rect">
            <a:avLst/>
          </a:prstGeom>
          <a:solidFill>
            <a:srgbClr val="F58FB0"/>
          </a:solidFill>
          <a:ln/>
        </p:spPr>
      </p:sp>
      <p:sp>
        <p:nvSpPr>
          <p:cNvPr id="22" name="Text 20"/>
          <p:cNvSpPr/>
          <p:nvPr/>
        </p:nvSpPr>
        <p:spPr>
          <a:xfrm>
            <a:off x="886968" y="49469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Admin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86968" y="52486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permissions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46520" y="1874520"/>
            <a:ext cx="658368" cy="658368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4279" y="2052279"/>
            <a:ext cx="302849" cy="302849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315200" y="1856232"/>
            <a:ext cx="43095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Focus Mode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7315200" y="2176272"/>
            <a:ext cx="43095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 many roles; activate one at a time to shrink the active permission set.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446520" y="2953512"/>
            <a:ext cx="658368" cy="658368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279" y="3131271"/>
            <a:ext cx="302849" cy="302849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315200" y="2935224"/>
            <a:ext cx="43095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OIDC SSO</a:t>
            </a:r>
            <a:endParaRPr lang="en-US" sz="1450" dirty="0"/>
          </a:p>
        </p:txBody>
      </p:sp>
      <p:sp>
        <p:nvSpPr>
          <p:cNvPr id="31" name="Text 27"/>
          <p:cNvSpPr/>
          <p:nvPr/>
        </p:nvSpPr>
        <p:spPr>
          <a:xfrm>
            <a:off x="7315200" y="3255264"/>
            <a:ext cx="43095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(RS256) with optional auto-provisioning; session or bearer auth.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6446520" y="4032504"/>
            <a:ext cx="658368" cy="658368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279" y="4210263"/>
            <a:ext cx="302849" cy="302849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315200" y="4014216"/>
            <a:ext cx="43095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resource:action perms</a:t>
            </a:r>
            <a:endParaRPr lang="en-US" sz="1450" dirty="0"/>
          </a:p>
        </p:txBody>
      </p:sp>
      <p:sp>
        <p:nvSpPr>
          <p:cNvPr id="35" name="Text 30"/>
          <p:cNvSpPr/>
          <p:nvPr/>
        </p:nvSpPr>
        <p:spPr>
          <a:xfrm>
            <a:off x="7315200" y="4334256"/>
            <a:ext cx="43095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Fine-grained gates — e.g. alert:triage, case:close, forensic:create.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6446520" y="5111496"/>
            <a:ext cx="658368" cy="658368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279" y="5289255"/>
            <a:ext cx="302849" cy="302849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315200" y="5093208"/>
            <a:ext cx="43095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Defence-in-depth</a:t>
            </a:r>
            <a:endParaRPr lang="en-US" sz="1450" dirty="0"/>
          </a:p>
        </p:txBody>
      </p:sp>
      <p:sp>
        <p:nvSpPr>
          <p:cNvPr id="39" name="Text 33"/>
          <p:cNvSpPr/>
          <p:nvPr/>
        </p:nvSpPr>
        <p:spPr>
          <a:xfrm>
            <a:off x="7315200" y="5413248"/>
            <a:ext cx="43095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CSP, HSTS, rate limiting, failed-login monitoring, structured audit logs.</a:t>
            </a:r>
            <a:endParaRPr lang="en-US" sz="1150" dirty="0"/>
          </a:p>
        </p:txBody>
      </p:sp>
      <p:sp>
        <p:nvSpPr>
          <p:cNvPr id="40" name="Text 3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algn="l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Intelligent Operating Network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  · 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720547" y="420624"/>
            <a:ext cx="76810" cy="7681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698602" y="574243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ASSURANCE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Secure by design — and kept that way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24901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2121408"/>
            <a:ext cx="2124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19/20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04088" y="2670048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principles Met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2828" y="1920240"/>
            <a:ext cx="24901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05708" y="2121408"/>
            <a:ext cx="2124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 / 0 / 0 / 0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59988" y="2670048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/ H / M / L findings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78728" y="1920240"/>
            <a:ext cx="24901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61608" y="2121408"/>
            <a:ext cx="2124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0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sha256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415888" y="2670048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tamper-evident ledger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34627" y="1920240"/>
            <a:ext cx="24901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17507" y="2121408"/>
            <a:ext cx="2124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AB4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per-release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271787" y="2670048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assessment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429000"/>
            <a:ext cx="566928" cy="566928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999" y="3582071"/>
            <a:ext cx="260787" cy="26078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98448" y="3392424"/>
            <a:ext cx="27105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Ownership checks before mutation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66928" y="4032504"/>
            <a:ext cx="34421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verified inside the service, not at the edge — no TOCTOU gap.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374794" y="3429000"/>
            <a:ext cx="566928" cy="566928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865" y="3582071"/>
            <a:ext cx="260787" cy="260787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106314" y="3392424"/>
            <a:ext cx="27105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Tamper-evident workbench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374794" y="4032504"/>
            <a:ext cx="34421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pins chained with sha256; the ledger detects any change.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8182661" y="3429000"/>
            <a:ext cx="566928" cy="566928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731" y="3582071"/>
            <a:ext cx="260787" cy="260787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914181" y="3392424"/>
            <a:ext cx="27105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Advisory-lock leader election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8182661" y="4032504"/>
            <a:ext cx="34421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Exactly-one background execution across workers; safe restarts.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66928" y="4754880"/>
            <a:ext cx="566928" cy="566928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999" y="4907951"/>
            <a:ext cx="260787" cy="260787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298448" y="4718304"/>
            <a:ext cx="27105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Air-gap as a control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566928" y="5358384"/>
            <a:ext cx="34421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external feeds shrinks the attack surface by construction.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4374794" y="4754880"/>
            <a:ext cx="566928" cy="566928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7865" y="4907951"/>
            <a:ext cx="260787" cy="260787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106314" y="4718304"/>
            <a:ext cx="27105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Tested invariants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4374794" y="5358384"/>
            <a:ext cx="34421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Known gotchas pinned by regression tests so they can't silently return.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8182661" y="4754880"/>
            <a:ext cx="566928" cy="566928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5731" y="4907951"/>
            <a:ext cx="260787" cy="260787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914181" y="4718304"/>
            <a:ext cx="27105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Documented posture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8182661" y="5358384"/>
            <a:ext cx="34421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20-principle audit refreshed every release in SECURITY_ASSESSMENT.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algn="l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Intelligent Operating Network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  · 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720547" y="420624"/>
            <a:ext cx="76810" cy="7681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698602" y="574243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Built to run unattended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Background loops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2331720"/>
            <a:ext cx="6675120" cy="512064"/>
          </a:xfrm>
          <a:prstGeom prst="roundRect">
            <a:avLst>
              <a:gd name="adj" fmla="val 7143"/>
            </a:avLst>
          </a:prstGeom>
          <a:solidFill>
            <a:srgbClr val="EAF0FA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33172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Kibana case sync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75888" y="2450592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081226"/>
          </a:solidFill>
          <a:ln/>
        </p:spPr>
      </p:sp>
      <p:sp>
        <p:nvSpPr>
          <p:cNvPr id="11" name="Text 9"/>
          <p:cNvSpPr/>
          <p:nvPr/>
        </p:nvSpPr>
        <p:spPr>
          <a:xfrm>
            <a:off x="3675888" y="2450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90288" y="233172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&amp; assignee, bi-directional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935224"/>
            <a:ext cx="667512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3522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TIDE data sync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75888" y="3054096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081226"/>
          </a:solidFill>
          <a:ln/>
        </p:spPr>
      </p:sp>
      <p:sp>
        <p:nvSpPr>
          <p:cNvPr id="16" name="Text 14"/>
          <p:cNvSpPr/>
          <p:nvPr/>
        </p:nvSpPr>
        <p:spPr>
          <a:xfrm>
            <a:off x="3675888" y="30540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min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90288" y="293522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analytics → Postgres snapshots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538728"/>
            <a:ext cx="6675120" cy="512064"/>
          </a:xfrm>
          <a:prstGeom prst="roundRect">
            <a:avLst>
              <a:gd name="adj" fmla="val 7143"/>
            </a:avLst>
          </a:prstGeom>
          <a:solidFill>
            <a:srgbClr val="EAF0FA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353872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Analytics engine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75888" y="365760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081226"/>
          </a:solidFill>
          <a:ln/>
        </p:spPr>
      </p:sp>
      <p:sp>
        <p:nvSpPr>
          <p:cNvPr id="21" name="Text 19"/>
          <p:cNvSpPr/>
          <p:nvPr/>
        </p:nvSpPr>
        <p:spPr>
          <a:xfrm>
            <a:off x="3675888" y="3657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min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90288" y="353872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scoring, repeat offenders, noise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4142232"/>
            <a:ext cx="667512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414223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Investigation loop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75888" y="4261104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081226"/>
          </a:solidFill>
          <a:ln/>
        </p:spPr>
      </p:sp>
      <p:sp>
        <p:nvSpPr>
          <p:cNvPr id="26" name="Text 24"/>
          <p:cNvSpPr/>
          <p:nvPr/>
        </p:nvSpPr>
        <p:spPr>
          <a:xfrm>
            <a:off x="3675888" y="42611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min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90288" y="414223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Bob processes the auto-investigation queue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4745736"/>
            <a:ext cx="6675120" cy="512064"/>
          </a:xfrm>
          <a:prstGeom prst="roundRect">
            <a:avLst>
              <a:gd name="adj" fmla="val 7143"/>
            </a:avLst>
          </a:prstGeom>
          <a:solidFill>
            <a:srgbClr val="EAF0FA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474573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Case grouper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675888" y="4864608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081226"/>
          </a:solidFill>
          <a:ln/>
        </p:spPr>
      </p:sp>
      <p:sp>
        <p:nvSpPr>
          <p:cNvPr id="31" name="Text 29"/>
          <p:cNvSpPr/>
          <p:nvPr/>
        </p:nvSpPr>
        <p:spPr>
          <a:xfrm>
            <a:off x="3675888" y="48646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90288" y="474573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Clusters related alerts into cases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5349240"/>
            <a:ext cx="667512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" y="534924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Network mapper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3675888" y="5468112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081226"/>
          </a:solidFill>
          <a:ln/>
        </p:spPr>
      </p:sp>
      <p:sp>
        <p:nvSpPr>
          <p:cNvPr id="36" name="Text 34"/>
          <p:cNvSpPr/>
          <p:nvPr/>
        </p:nvSpPr>
        <p:spPr>
          <a:xfrm>
            <a:off x="3675888" y="54681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min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90288" y="534924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Asset discovery from Elasticsearch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406640" y="2331720"/>
            <a:ext cx="4218127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662672" y="2587752"/>
            <a:ext cx="566928" cy="566928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5743" y="2740823"/>
            <a:ext cx="260787" cy="260787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8366760" y="2478024"/>
            <a:ext cx="3120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Single-leader execution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8366760" y="2825496"/>
            <a:ext cx="31208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pg advisory locks ensure exactly one worker runs each loop.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7406640" y="3566160"/>
            <a:ext cx="4218127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662672" y="3822192"/>
            <a:ext cx="566928" cy="566928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5743" y="3975263"/>
            <a:ext cx="260787" cy="260787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8366760" y="3712464"/>
            <a:ext cx="3120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Circuit breakers</a:t>
            </a:r>
            <a:endParaRPr lang="en-US" sz="1350" dirty="0"/>
          </a:p>
        </p:txBody>
      </p:sp>
      <p:sp>
        <p:nvSpPr>
          <p:cNvPr id="47" name="Text 43"/>
          <p:cNvSpPr/>
          <p:nvPr/>
        </p:nvSpPr>
        <p:spPr>
          <a:xfrm>
            <a:off x="8366760" y="4059936"/>
            <a:ext cx="31208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calls fast-fail and auto-recover on outage.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7406640" y="4800600"/>
            <a:ext cx="4218127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7662672" y="5056632"/>
            <a:ext cx="566928" cy="566928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743" y="5209703"/>
            <a:ext cx="260787" cy="260787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8366760" y="4946904"/>
            <a:ext cx="3120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Crash-safe locks</a:t>
            </a:r>
            <a:endParaRPr lang="en-US" sz="1350" dirty="0"/>
          </a:p>
        </p:txBody>
      </p:sp>
      <p:sp>
        <p:nvSpPr>
          <p:cNvPr id="52" name="Text 47"/>
          <p:cNvSpPr/>
          <p:nvPr/>
        </p:nvSpPr>
        <p:spPr>
          <a:xfrm>
            <a:off x="8366760" y="5294376"/>
            <a:ext cx="31208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dropped connection auto-releases the lock for re-election.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algn="l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Intelligent Operating Network</a:t>
            </a:r>
            <a:endParaRPr lang="en-US" sz="900" dirty="0"/>
          </a:p>
        </p:txBody>
      </p:sp>
      <p:sp>
        <p:nvSpPr>
          <p:cNvPr id="54" name="Text 49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  ·  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720547" y="420624"/>
            <a:ext cx="76810" cy="7681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698602" y="574243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BEYOND TRIAGE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Analytics, reporting &amp; SOC management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9536" y="2276856"/>
            <a:ext cx="713232" cy="713232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109" y="2469429"/>
            <a:ext cx="328087" cy="3280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" y="3063240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Analytics engine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59536" y="3410712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automated jobs: risk scoring, repeat offenders, rule-noise, case metrics.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74794" y="1965960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7402" y="2276856"/>
            <a:ext cx="713232" cy="713232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975" y="2469429"/>
            <a:ext cx="328087" cy="32808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7402" y="3063240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briefings &amp; handovers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667402" y="3410712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threat/ops briefings and end-of-shift reports, drafted by Bob.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82661" y="1965960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75269" y="2276856"/>
            <a:ext cx="713232" cy="713232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841" y="2469429"/>
            <a:ext cx="328087" cy="32808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75269" y="3063240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SOC health scorecard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475269" y="3410712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5-dimension maturity view; analyst MTTR and FP-rate tracking.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66928" y="4023360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59536" y="4334256"/>
            <a:ext cx="713232" cy="713232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109" y="4526829"/>
            <a:ext cx="328087" cy="32808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59536" y="5120640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Compliance mapping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859536" y="5468112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controls across NIST, ISO 27001/27035, PCI-DSS, SOC-CMM and more.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374794" y="4023360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667402" y="4334256"/>
            <a:ext cx="713232" cy="713232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9975" y="4526829"/>
            <a:ext cx="328087" cy="32808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667402" y="5120640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Executive reports</a:t>
            </a:r>
            <a:endParaRPr lang="en-US" sz="1550" dirty="0"/>
          </a:p>
        </p:txBody>
      </p:sp>
      <p:sp>
        <p:nvSpPr>
          <p:cNvPr id="31" name="Text 24"/>
          <p:cNvSpPr/>
          <p:nvPr/>
        </p:nvSpPr>
        <p:spPr>
          <a:xfrm>
            <a:off x="4667402" y="5468112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PDF/HTML reports for leadership, generated server-side.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182661" y="4023360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475269" y="4334256"/>
            <a:ext cx="713232" cy="713232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841" y="4526829"/>
            <a:ext cx="328087" cy="328087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475269" y="5120640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Playbook execution</a:t>
            </a:r>
            <a:endParaRPr lang="en-US" sz="1550" dirty="0"/>
          </a:p>
        </p:txBody>
      </p:sp>
      <p:sp>
        <p:nvSpPr>
          <p:cNvPr id="36" name="Text 28"/>
          <p:cNvSpPr/>
          <p:nvPr/>
        </p:nvSpPr>
        <p:spPr>
          <a:xfrm>
            <a:off x="8475269" y="5468112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response with approval-gated automated actions.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algn="l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Intelligent Operating Network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  ·  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720547" y="420624"/>
            <a:ext cx="76810" cy="7681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698602" y="574243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Scales from a laptop to a full estate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3411626" cy="3611880"/>
          </a:xfrm>
          <a:prstGeom prst="roundRect">
            <a:avLst>
              <a:gd name="adj" fmla="val 2412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965960"/>
            <a:ext cx="3411626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" y="2286000"/>
            <a:ext cx="868680" cy="86868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512" y="2520544"/>
            <a:ext cx="399593" cy="39959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38528" y="2331720"/>
            <a:ext cx="18571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Minimal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938528" y="2743200"/>
            <a:ext cx="18571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32688" y="3383280"/>
            <a:ext cx="272582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 (1 worker)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Elasticsearch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or Postgres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90034" y="1965960"/>
            <a:ext cx="3411626" cy="3611880"/>
          </a:xfrm>
          <a:prstGeom prst="roundRect">
            <a:avLst>
              <a:gd name="adj" fmla="val 2412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90034" y="1965960"/>
            <a:ext cx="3411626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6" name="Shape 13"/>
          <p:cNvSpPr/>
          <p:nvPr/>
        </p:nvSpPr>
        <p:spPr>
          <a:xfrm>
            <a:off x="4710074" y="2286000"/>
            <a:ext cx="868680" cy="86868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4618" y="2520544"/>
            <a:ext cx="399593" cy="39959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761634" y="2331720"/>
            <a:ext cx="18571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Standard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5761634" y="2743200"/>
            <a:ext cx="18571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755794" y="3383280"/>
            <a:ext cx="272582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 16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 (4 workers)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Kibana · Keycloak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Ollama (optional)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213141" y="1965960"/>
            <a:ext cx="3411626" cy="3611880"/>
          </a:xfrm>
          <a:prstGeom prst="roundRect">
            <a:avLst>
              <a:gd name="adj" fmla="val 2412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213141" y="1965960"/>
            <a:ext cx="3411626" cy="109728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23" name="Shape 19"/>
          <p:cNvSpPr/>
          <p:nvPr/>
        </p:nvSpPr>
        <p:spPr>
          <a:xfrm>
            <a:off x="8533181" y="2286000"/>
            <a:ext cx="868680" cy="86868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724" y="2520544"/>
            <a:ext cx="399593" cy="39959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584741" y="2331720"/>
            <a:ext cx="18571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Full stack</a:t>
            </a:r>
            <a:endParaRPr lang="en-US" sz="1900" dirty="0"/>
          </a:p>
        </p:txBody>
      </p:sp>
      <p:sp>
        <p:nvSpPr>
          <p:cNvPr id="26" name="Text 21"/>
          <p:cNvSpPr/>
          <p:nvPr/>
        </p:nvSpPr>
        <p:spPr>
          <a:xfrm>
            <a:off x="9584741" y="2743200"/>
            <a:ext cx="18571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Air-gapped estate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578901" y="3383280"/>
            <a:ext cx="272582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TIDE · OpenCTI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Arkime · GitLab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Nginx (TLS)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ELK cluster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66928" y="58064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329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Containerised with Docker Compose · external stacks join over the ION network · the AI profile adds local Ollama.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algn="l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Intelligent Operating Network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  ·  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720547" y="420624"/>
            <a:ext cx="76810" cy="7681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698602" y="574243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stack, at a glance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24901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27950" y="2377440"/>
            <a:ext cx="768096" cy="768096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5336" y="2584826"/>
            <a:ext cx="353324" cy="3533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3182112"/>
            <a:ext cx="2307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FastAPI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3474720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Async Python API + page layer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422828" y="2103120"/>
            <a:ext cx="24901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83850" y="2377440"/>
            <a:ext cx="768096" cy="768096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236" y="2584826"/>
            <a:ext cx="353324" cy="3533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14268" y="3182112"/>
            <a:ext cx="2307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Jinja2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14268" y="3474720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Server-rendered HTML — no SPA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278728" y="2103120"/>
            <a:ext cx="24901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39750" y="2377440"/>
            <a:ext cx="768096" cy="768096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135" y="2584826"/>
            <a:ext cx="353324" cy="3533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70168" y="3182112"/>
            <a:ext cx="2307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PostgreSQL 16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70168" y="3474720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store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9134627" y="2103120"/>
            <a:ext cx="24901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95649" y="2377440"/>
            <a:ext cx="768096" cy="768096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3035" y="2584826"/>
            <a:ext cx="353324" cy="3533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26067" y="3182112"/>
            <a:ext cx="2307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pgvector + HNSW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226067" y="3474720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Similarity search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566928" y="3977640"/>
            <a:ext cx="24901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427950" y="4251960"/>
            <a:ext cx="768096" cy="768096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5336" y="4459346"/>
            <a:ext cx="353324" cy="35332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58368" y="5056632"/>
            <a:ext cx="2307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Ollama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658368" y="5349240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LLM + embeddings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3422828" y="3977640"/>
            <a:ext cx="24901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283850" y="4251960"/>
            <a:ext cx="768096" cy="768096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1236" y="4459346"/>
            <a:ext cx="353324" cy="35332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514268" y="5056632"/>
            <a:ext cx="2307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Tailwind CSS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3514268" y="5349240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system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6278728" y="3977640"/>
            <a:ext cx="24901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7139750" y="4251960"/>
            <a:ext cx="768096" cy="768096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7135" y="4459346"/>
            <a:ext cx="353324" cy="35332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370168" y="5056632"/>
            <a:ext cx="2307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Docker Compose</a:t>
            </a:r>
            <a:endParaRPr lang="en-US" sz="1400" dirty="0"/>
          </a:p>
        </p:txBody>
      </p:sp>
      <p:sp>
        <p:nvSpPr>
          <p:cNvPr id="41" name="Text 32"/>
          <p:cNvSpPr/>
          <p:nvPr/>
        </p:nvSpPr>
        <p:spPr>
          <a:xfrm>
            <a:off x="6370168" y="5349240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Packaging &amp; deploy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9134627" y="3977640"/>
            <a:ext cx="24901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9995649" y="4251960"/>
            <a:ext cx="768096" cy="768096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3035" y="4459346"/>
            <a:ext cx="353324" cy="353324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226067" y="5056632"/>
            <a:ext cx="2307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Keycloak / OIDC</a:t>
            </a:r>
            <a:endParaRPr lang="en-US" sz="1400" dirty="0"/>
          </a:p>
        </p:txBody>
      </p:sp>
      <p:sp>
        <p:nvSpPr>
          <p:cNvPr id="46" name="Text 36"/>
          <p:cNvSpPr/>
          <p:nvPr/>
        </p:nvSpPr>
        <p:spPr>
          <a:xfrm>
            <a:off x="9226067" y="5349240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(RS256)</a:t>
            </a:r>
            <a:endParaRPr lang="en-US" sz="950" dirty="0"/>
          </a:p>
        </p:txBody>
      </p:sp>
      <p:sp>
        <p:nvSpPr>
          <p:cNvPr id="47" name="Text 37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algn="l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Intelligent Operating Network</a:t>
            </a:r>
            <a:endParaRPr lang="en-US" sz="900" dirty="0"/>
          </a:p>
        </p:txBody>
      </p:sp>
      <p:sp>
        <p:nvSpPr>
          <p:cNvPr id="48" name="Text 38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  ·  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720547" y="420624"/>
            <a:ext cx="76810" cy="7681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698602" y="574243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NEXT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Bob RAG roadmap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05840" y="2103120"/>
            <a:ext cx="0" cy="3657600"/>
          </a:xfrm>
          <a:prstGeom prst="line">
            <a:avLst/>
          </a:prstGeom>
          <a:noFill/>
          <a:ln w="25400">
            <a:solidFill>
              <a:srgbClr val="E0E8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057400"/>
            <a:ext cx="329184" cy="32918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139696"/>
            <a:ext cx="164592" cy="1645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9888" y="2039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8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SHIPPED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944368" y="2011680"/>
            <a:ext cx="84060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Prompt-assembly hardening    </a:t>
            </a:r>
            <a:pPr indent="0" marL="0">
              <a:buNone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Token-budget guard; output contract protected (v0.35)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841248" y="2843784"/>
            <a:ext cx="329184" cy="32918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926080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89888" y="2825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8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SHIPPED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944368" y="2798064"/>
            <a:ext cx="84060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layers default-on    </a:t>
            </a:r>
            <a:pPr indent="0" marL="0">
              <a:buNone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similarity, KB grounding, exemplars on by default (v0.36–37)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841248" y="3630168"/>
            <a:ext cx="329184" cy="329184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712464"/>
            <a:ext cx="164592" cy="1645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89888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8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SHIPPED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2944368" y="3584448"/>
            <a:ext cx="84060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Asymmetric task prefixes    </a:t>
            </a:r>
            <a:pPr indent="0" marL="0">
              <a:buNone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nomic search_query/document — +57% nDCG (v0.38)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841248" y="4416552"/>
            <a:ext cx="329184" cy="329184"/>
          </a:xfrm>
          <a:prstGeom prst="ellipse">
            <a:avLst/>
          </a:prstGeom>
          <a:solidFill>
            <a:srgbClr val="F5A52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498848"/>
            <a:ext cx="164592" cy="1645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89888" y="43982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7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2944368" y="4370832"/>
            <a:ext cx="84060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Playbook &amp; TI-report RAG    </a:t>
            </a:r>
            <a:pPr indent="0" marL="0">
              <a:buNone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embedding surfaces; KB chunking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841248" y="5202936"/>
            <a:ext cx="329184" cy="329184"/>
          </a:xfrm>
          <a:prstGeom prst="ellipse">
            <a:avLst/>
          </a:prstGeom>
          <a:solidFill>
            <a:srgbClr val="8AB4F8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5285232"/>
            <a:ext cx="164592" cy="16459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89888" y="51846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B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PLANNED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2944368" y="5157216"/>
            <a:ext cx="84060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rework    </a:t>
            </a:r>
            <a:pPr indent="0" marL="0">
              <a:buNone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Confidence-sorted recall; analyst-disagreement surfacing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algn="l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Intelligent Operating Network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8881567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  ·  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3716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ION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566928" y="2743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whole SOC, one intelligent portal.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36118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Unifies 11+ tools — detection, intel, forensics, identity — behind one server-rendered portal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local, RAG-grounded AI analyst that runs entirely inside the air gap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by design: 19/20 principles met, tamper-evident ledgers, zero open findings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F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Operating Network</a:t>
            </a:r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·    v0.38.0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637215" y="576072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Shape 6"/>
          <p:cNvSpPr/>
          <p:nvPr/>
        </p:nvSpPr>
        <p:spPr>
          <a:xfrm>
            <a:off x="10842041" y="5687568"/>
            <a:ext cx="102413" cy="102413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Shape 7"/>
          <p:cNvSpPr/>
          <p:nvPr/>
        </p:nvSpPr>
        <p:spPr>
          <a:xfrm>
            <a:off x="10812780" y="5892394"/>
            <a:ext cx="73152" cy="73152"/>
          </a:xfrm>
          <a:prstGeom prst="ellipse">
            <a:avLst/>
          </a:prstGeom>
          <a:solidFill>
            <a:srgbClr val="2DD4B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ION — Intelligent Operating Network</dc:title>
  <dc:subject>PptxGenJS Presentation</dc:subject>
  <dc:creator>ION</dc:creator>
  <cp:lastModifiedBy>ION</cp:lastModifiedBy>
  <cp:revision>1</cp:revision>
  <dcterms:created xsi:type="dcterms:W3CDTF">2026-06-02T07:30:50Z</dcterms:created>
  <dcterms:modified xsi:type="dcterms:W3CDTF">2026-06-02T07:30:50Z</dcterms:modified>
</cp:coreProperties>
</file>